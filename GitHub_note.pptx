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6" r:id="rId11"/>
    <p:sldId id="265" r:id="rId12"/>
    <p:sldId id="267" r:id="rId13"/>
    <p:sldId id="268" r:id="rId14"/>
    <p:sldId id="269" r:id="rId15"/>
    <p:sldId id="277" r:id="rId16"/>
    <p:sldId id="270" r:id="rId17"/>
    <p:sldId id="271" r:id="rId18"/>
    <p:sldId id="272" r:id="rId19"/>
    <p:sldId id="273" r:id="rId20"/>
    <p:sldId id="274" r:id="rId21"/>
    <p:sldId id="275" r:id="rId22"/>
    <p:sldId id="266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33CCC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72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39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40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730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12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67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207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354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957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5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7185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5907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8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3">
            <a:extLst>
              <a:ext uri="{FF2B5EF4-FFF2-40B4-BE49-F238E27FC236}">
                <a16:creationId xmlns:a16="http://schemas.microsoft.com/office/drawing/2014/main" id="{C4F5370D-7FB6-A4A6-0375-5FF2E386D4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91D5913C-CA18-F77F-081C-A94DDF935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r>
              <a:rPr lang="en-US" altLang="zh-TW" sz="6000">
                <a:solidFill>
                  <a:srgbClr val="FFFFFF"/>
                </a:solidFill>
              </a:rPr>
              <a:t>Git</a:t>
            </a:r>
            <a:endParaRPr lang="zh-TW" altLang="en-US" sz="6000">
              <a:solidFill>
                <a:srgbClr val="FFFFFF"/>
              </a:solidFill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41BBABE-96ED-9DFE-B86A-FE94BCB72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6119308" cy="1104721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solidFill>
                  <a:srgbClr val="FFFFFF"/>
                </a:solidFill>
              </a:rPr>
              <a:t>GIT </a:t>
            </a:r>
            <a:r>
              <a:rPr lang="zh-TW" altLang="en-US" dirty="0">
                <a:solidFill>
                  <a:srgbClr val="FFFFFF"/>
                </a:solidFill>
              </a:rPr>
              <a:t>版本控管使用</a:t>
            </a:r>
            <a:r>
              <a:rPr lang="en-US" altLang="zh-TW" dirty="0">
                <a:solidFill>
                  <a:srgbClr val="FFFFFF"/>
                </a:solidFill>
              </a:rPr>
              <a:t>GIT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BASH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COMMAND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LINE</a:t>
            </a:r>
          </a:p>
          <a:p>
            <a:r>
              <a:rPr lang="en-US" altLang="zh-TW" dirty="0">
                <a:solidFill>
                  <a:srgbClr val="FFFFFF"/>
                </a:solidFill>
              </a:rPr>
              <a:t>GitHub</a:t>
            </a:r>
            <a:endParaRPr lang="zh-TW" altLang="en-US" dirty="0">
              <a:solidFill>
                <a:srgbClr val="FFFFFF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64711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319E0B-CE52-5BD1-E3E7-765C35AA9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F5BB14-CB00-FB25-B911-203A52C54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8" y="2122664"/>
            <a:ext cx="8439266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初次安裝完成後可透過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Bash</a:t>
            </a:r>
            <a:r>
              <a:rPr lang="zh-TW" altLang="en-US" dirty="0">
                <a:solidFill>
                  <a:srgbClr val="00B0F0"/>
                </a:solidFill>
              </a:rPr>
              <a:t>輸入指令查看初始的設定參數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FBCA4F5-E5BB-3189-07AB-217E3BC6A781}"/>
              </a:ext>
            </a:extLst>
          </p:cNvPr>
          <p:cNvSpPr txBox="1"/>
          <p:nvPr/>
        </p:nvSpPr>
        <p:spPr>
          <a:xfrm>
            <a:off x="1717955" y="3824497"/>
            <a:ext cx="45986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––list ––show—origin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D444E1D1-AFAD-CB4A-F777-381A4CD925C5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查看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所有設定與來源命令</a:t>
            </a:r>
            <a:r>
              <a:rPr lang="en-US" altLang="zh-TW" sz="1800" dirty="0">
                <a:solidFill>
                  <a:schemeClr val="bg1"/>
                </a:solidFill>
              </a:rPr>
              <a:t>(</a:t>
            </a:r>
            <a:r>
              <a:rPr lang="zh-TW" altLang="en-US" sz="1800" dirty="0">
                <a:solidFill>
                  <a:schemeClr val="bg1"/>
                </a:solidFill>
              </a:rPr>
              <a:t>顯示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的設定值及設定值所在的文件來源位置</a:t>
            </a:r>
            <a:r>
              <a:rPr lang="en-US" altLang="zh-TW" sz="1800" dirty="0">
                <a:solidFill>
                  <a:schemeClr val="bg1"/>
                </a:solidFill>
              </a:rPr>
              <a:t>)</a:t>
            </a:r>
            <a:endParaRPr lang="zh-TW" altLang="en-US" sz="1800" dirty="0">
              <a:solidFill>
                <a:schemeClr val="bg1"/>
              </a:solidFill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45676DA1-17B6-2797-918C-06A37D64808C}"/>
              </a:ext>
            </a:extLst>
          </p:cNvPr>
          <p:cNvSpPr txBox="1">
            <a:spLocks/>
          </p:cNvSpPr>
          <p:nvPr/>
        </p:nvSpPr>
        <p:spPr>
          <a:xfrm>
            <a:off x="1340359" y="4684263"/>
            <a:ext cx="6907714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查看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所有設定命令</a:t>
            </a:r>
            <a:r>
              <a:rPr lang="en-US" altLang="zh-TW" sz="1800" dirty="0">
                <a:solidFill>
                  <a:schemeClr val="bg1"/>
                </a:solidFill>
              </a:rPr>
              <a:t>(</a:t>
            </a:r>
            <a:r>
              <a:rPr lang="zh-TW" altLang="en-US" sz="1800" dirty="0">
                <a:solidFill>
                  <a:schemeClr val="bg1"/>
                </a:solidFill>
              </a:rPr>
              <a:t>僅顯示當前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使用者的設定值</a:t>
            </a:r>
            <a:r>
              <a:rPr lang="en-US" altLang="zh-TW" sz="1800" dirty="0">
                <a:solidFill>
                  <a:schemeClr val="bg1"/>
                </a:solidFill>
              </a:rPr>
              <a:t>)</a:t>
            </a:r>
            <a:endParaRPr lang="zh-TW" altLang="en-US" sz="1800" dirty="0">
              <a:solidFill>
                <a:schemeClr val="bg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AD653F4-6C55-8C9B-A60D-C8EACCCAF416}"/>
              </a:ext>
            </a:extLst>
          </p:cNvPr>
          <p:cNvSpPr txBox="1"/>
          <p:nvPr/>
        </p:nvSpPr>
        <p:spPr>
          <a:xfrm>
            <a:off x="1717955" y="5548282"/>
            <a:ext cx="31392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––list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229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BE221-7B0B-76A5-1CA9-7D0574E07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E1611C-FEAE-4DE2-182D-F678E5D03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120D05-E4DF-E312-86C5-DD627B68E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8" y="2122664"/>
            <a:ext cx="8439266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初次安裝完成後修改使用者名稱及使用者電子郵件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D902992-3FA2-34AD-F14B-6334A4347363}"/>
              </a:ext>
            </a:extLst>
          </p:cNvPr>
          <p:cNvSpPr txBox="1"/>
          <p:nvPr/>
        </p:nvSpPr>
        <p:spPr>
          <a:xfrm>
            <a:off x="1717955" y="3824497"/>
            <a:ext cx="57586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user.name “Daniel Hsu”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B1D196B0-AF67-1254-11D8-36D27C59D265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修改使用者名稱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05C2B58A-D70C-1039-BCB3-965D3FA8A180}"/>
              </a:ext>
            </a:extLst>
          </p:cNvPr>
          <p:cNvSpPr txBox="1">
            <a:spLocks/>
          </p:cNvSpPr>
          <p:nvPr/>
        </p:nvSpPr>
        <p:spPr>
          <a:xfrm>
            <a:off x="1340359" y="4684263"/>
            <a:ext cx="6907714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修改使用者電子郵件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E47EF3E-7197-4F20-82EF-E63693FCCC12}"/>
              </a:ext>
            </a:extLst>
          </p:cNvPr>
          <p:cNvSpPr txBox="1"/>
          <p:nvPr/>
        </p:nvSpPr>
        <p:spPr>
          <a:xfrm>
            <a:off x="1717955" y="5548282"/>
            <a:ext cx="83135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user.email tengchiehhsu@gmail.com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381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DA797D-CF8E-8C27-4BC9-C8C5F2971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222447-6303-2A51-5074-1A424BFC2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5ACE2-EC53-E7DB-2542-5C91DEAA9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2122664"/>
            <a:ext cx="10821161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初次安裝完成後設定每次新建倉庫</a:t>
            </a:r>
            <a:r>
              <a:rPr lang="en-US" altLang="zh-TW" dirty="0">
                <a:solidFill>
                  <a:srgbClr val="00B0F0"/>
                </a:solidFill>
              </a:rPr>
              <a:t>(Repository)</a:t>
            </a:r>
            <a:r>
              <a:rPr lang="zh-TW" altLang="en-US" dirty="0">
                <a:solidFill>
                  <a:srgbClr val="00B0F0"/>
                </a:solidFill>
              </a:rPr>
              <a:t>時的分支</a:t>
            </a:r>
            <a:r>
              <a:rPr lang="en-US" altLang="zh-TW" dirty="0">
                <a:solidFill>
                  <a:srgbClr val="00B0F0"/>
                </a:solidFill>
              </a:rPr>
              <a:t>(Branch)</a:t>
            </a:r>
            <a:r>
              <a:rPr lang="zh-TW" altLang="en-US" dirty="0">
                <a:solidFill>
                  <a:srgbClr val="00B0F0"/>
                </a:solidFill>
              </a:rPr>
              <a:t>名稱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8D0028D1-76B2-FC4A-78B3-F77EA285B79B}"/>
              </a:ext>
            </a:extLst>
          </p:cNvPr>
          <p:cNvSpPr txBox="1"/>
          <p:nvPr/>
        </p:nvSpPr>
        <p:spPr>
          <a:xfrm>
            <a:off x="1717955" y="3824497"/>
            <a:ext cx="69077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define repository name: init.defaultbranch=master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A909361-0F71-FA0D-18D3-6B12E7339139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修改新建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 </a:t>
            </a:r>
            <a:r>
              <a:rPr lang="en-US" altLang="zh-TW" sz="1800" dirty="0">
                <a:solidFill>
                  <a:schemeClr val="bg1"/>
                </a:solidFill>
              </a:rPr>
              <a:t>Repository</a:t>
            </a:r>
            <a:r>
              <a:rPr lang="zh-TW" altLang="en-US" sz="1800" dirty="0">
                <a:solidFill>
                  <a:schemeClr val="bg1"/>
                </a:solidFill>
              </a:rPr>
              <a:t>分支名稱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B08631E-5FF5-9159-62A0-8A39B78E220F}"/>
              </a:ext>
            </a:extLst>
          </p:cNvPr>
          <p:cNvSpPr txBox="1"/>
          <p:nvPr/>
        </p:nvSpPr>
        <p:spPr>
          <a:xfrm>
            <a:off x="1717955" y="4334636"/>
            <a:ext cx="72736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init.defaultbranch &lt;branch name&gt;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F03A98-A601-9278-A8D5-0BF7FF5875E6}"/>
              </a:ext>
            </a:extLst>
          </p:cNvPr>
          <p:cNvSpPr txBox="1"/>
          <p:nvPr/>
        </p:nvSpPr>
        <p:spPr>
          <a:xfrm>
            <a:off x="254805" y="6333766"/>
            <a:ext cx="8662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※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預設的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，若要使用預設值則不用重新定義。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32237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DA87A6-6BBB-014B-A9C4-7ED4DB9A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576B43-CB30-D01A-B5B1-7235D4B07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4B19A5-8D3B-9825-22A4-9754C7C61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00CB671-A28F-8FB7-B900-D6E740BF4B42}"/>
              </a:ext>
            </a:extLst>
          </p:cNvPr>
          <p:cNvSpPr txBox="1"/>
          <p:nvPr/>
        </p:nvSpPr>
        <p:spPr>
          <a:xfrm>
            <a:off x="1717954" y="2747130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首先在當前的路徑下新增一個要進行版控的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指令查看當前路徑，或是切換到想要建立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218AF644-58BF-CC74-BA36-57F7D56ED231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866262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建立新的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AAA2BEA-7482-213A-91B7-9121C8E0633C}"/>
              </a:ext>
            </a:extLst>
          </p:cNvPr>
          <p:cNvSpPr txBox="1"/>
          <p:nvPr/>
        </p:nvSpPr>
        <p:spPr>
          <a:xfrm>
            <a:off x="2034847" y="3566933"/>
            <a:ext cx="61409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cd d:/CAI_Project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切換到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D:/CAI_Project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DEC97E7-B73C-8160-B454-DEA5021C5391}"/>
              </a:ext>
            </a:extLst>
          </p:cNvPr>
          <p:cNvSpPr txBox="1"/>
          <p:nvPr/>
        </p:nvSpPr>
        <p:spPr>
          <a:xfrm>
            <a:off x="1717954" y="3905487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切換後，在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之前會顯示目前所在的路徑，如下：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C34DB80-E9A7-9113-2D51-5B4C4F7EB519}"/>
              </a:ext>
            </a:extLst>
          </p:cNvPr>
          <p:cNvSpPr txBox="1"/>
          <p:nvPr/>
        </p:nvSpPr>
        <p:spPr>
          <a:xfrm>
            <a:off x="2196212" y="4362015"/>
            <a:ext cx="7273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F2F76F4-9BF8-D671-6BB9-4D3E424D1B52}"/>
              </a:ext>
            </a:extLst>
          </p:cNvPr>
          <p:cNvSpPr txBox="1"/>
          <p:nvPr/>
        </p:nvSpPr>
        <p:spPr>
          <a:xfrm>
            <a:off x="2034847" y="5029242"/>
            <a:ext cx="53103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mkdir NewGitRepository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倉庫名稱可自行定義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 NewGitRepository</a:t>
            </a:r>
            <a:endParaRPr lang="zh-TW" altLang="en-US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FEB5CB1-1543-767D-1BC2-8C5BED4DD824}"/>
              </a:ext>
            </a:extLst>
          </p:cNvPr>
          <p:cNvSpPr txBox="1"/>
          <p:nvPr/>
        </p:nvSpPr>
        <p:spPr>
          <a:xfrm>
            <a:off x="1717954" y="5431816"/>
            <a:ext cx="5310375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切換目錄後，所在的目錄路徑如下：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5721289-3BCC-5498-9364-A4499EB0097E}"/>
              </a:ext>
            </a:extLst>
          </p:cNvPr>
          <p:cNvSpPr txBox="1"/>
          <p:nvPr/>
        </p:nvSpPr>
        <p:spPr>
          <a:xfrm>
            <a:off x="2034847" y="5893481"/>
            <a:ext cx="8830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/d/CAI_Project/NewGitRepository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A152E4C-E262-D4CD-462B-1DA75E8DE596}"/>
              </a:ext>
            </a:extLst>
          </p:cNvPr>
          <p:cNvSpPr txBox="1"/>
          <p:nvPr/>
        </p:nvSpPr>
        <p:spPr>
          <a:xfrm>
            <a:off x="1717954" y="4610996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，並切換到新建立的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路經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242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B831A2-780B-DFCB-D373-C39009015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78E74D-09C7-FBAA-8E81-AA59913D1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1812F4-CDAA-CB06-0D7F-871B478974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329278C-5F64-B2FD-6568-402D5E263990}"/>
              </a:ext>
            </a:extLst>
          </p:cNvPr>
          <p:cNvSpPr txBox="1"/>
          <p:nvPr/>
        </p:nvSpPr>
        <p:spPr>
          <a:xfrm>
            <a:off x="1717954" y="2747130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指令查看當前路徑，確認路徑是剛才建立的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目錄後接著下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進行倉庫初始化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E1B8AE2B-5B38-7960-D378-78A6ECF2BA8F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866262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初始化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D352081-1CA8-99B6-A60E-087356F9E9AA}"/>
              </a:ext>
            </a:extLst>
          </p:cNvPr>
          <p:cNvSpPr txBox="1"/>
          <p:nvPr/>
        </p:nvSpPr>
        <p:spPr>
          <a:xfrm>
            <a:off x="2034847" y="3175640"/>
            <a:ext cx="3783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init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初始化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1921340-7264-2AE2-7946-759375CDCADC}"/>
              </a:ext>
            </a:extLst>
          </p:cNvPr>
          <p:cNvSpPr txBox="1"/>
          <p:nvPr/>
        </p:nvSpPr>
        <p:spPr>
          <a:xfrm>
            <a:off x="2034847" y="5925949"/>
            <a:ext cx="7790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/d/CAI_Project/NewGitRepository</a:t>
            </a:r>
            <a:r>
              <a:rPr lang="zh-TW" altLang="en-US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952615F-3D36-2337-5EE0-6066F8258048}"/>
              </a:ext>
            </a:extLst>
          </p:cNvPr>
          <p:cNvSpPr txBox="1"/>
          <p:nvPr/>
        </p:nvSpPr>
        <p:spPr>
          <a:xfrm>
            <a:off x="1717954" y="5137582"/>
            <a:ext cx="9813054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初始化完成後，命令列路徑提示字串最後會顯示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“master”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，這是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預設的初始分支名稱，表示為版控的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『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主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』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版本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00C47F96-AF0D-D03F-099A-577CC96CC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8962" y="3700778"/>
            <a:ext cx="2028825" cy="876300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6D31D7E3-1F0C-0BDC-C124-E3D5D36BBC99}"/>
              </a:ext>
            </a:extLst>
          </p:cNvPr>
          <p:cNvSpPr txBox="1"/>
          <p:nvPr/>
        </p:nvSpPr>
        <p:spPr>
          <a:xfrm>
            <a:off x="5671670" y="4108090"/>
            <a:ext cx="45630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初始化完成後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目錄中會出現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的資料夾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隱藏檔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3157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EAE79C-5D44-A23C-B7EE-9E96464F0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B3281E-F36E-73EC-7324-D18EDA72F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39F662-30D5-300B-A183-1405EC1D2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在新的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建立檔案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1ED9965-7A6C-3699-436F-161E72E40F31}"/>
              </a:ext>
            </a:extLst>
          </p:cNvPr>
          <p:cNvSpPr txBox="1"/>
          <p:nvPr/>
        </p:nvSpPr>
        <p:spPr>
          <a:xfrm>
            <a:off x="1717954" y="2747130"/>
            <a:ext cx="8851434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98748C2C-30D0-78F2-F8F7-053B77EC740B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319578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建立檔案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77865B6-1691-10A5-AA96-36446E960DEC}"/>
              </a:ext>
            </a:extLst>
          </p:cNvPr>
          <p:cNvSpPr txBox="1"/>
          <p:nvPr/>
        </p:nvSpPr>
        <p:spPr>
          <a:xfrm>
            <a:off x="8636035" y="3865801"/>
            <a:ext cx="3147874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因為初始化後的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目錄是空的，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所以會提示要使用者新增檔案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C8D2AF8-FDFA-3CF3-31FB-7DB577E0E97A}"/>
              </a:ext>
            </a:extLst>
          </p:cNvPr>
          <p:cNvSpPr txBox="1"/>
          <p:nvPr/>
        </p:nvSpPr>
        <p:spPr>
          <a:xfrm>
            <a:off x="2034847" y="5226362"/>
            <a:ext cx="45900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 “This is new test file” &gt; test_file.txt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519C9C6-41B2-1878-39DD-D077FB115472}"/>
              </a:ext>
            </a:extLst>
          </p:cNvPr>
          <p:cNvSpPr txBox="1"/>
          <p:nvPr/>
        </p:nvSpPr>
        <p:spPr>
          <a:xfrm>
            <a:off x="1717954" y="4715184"/>
            <a:ext cx="5050399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“echo”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指令來新增檔案，以文字檔為例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D993D28-2F74-2239-225D-7D0B39151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951" y="3335947"/>
            <a:ext cx="6343650" cy="1152525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9203D5E-7DB4-15A2-F644-08973B841815}"/>
              </a:ext>
            </a:extLst>
          </p:cNvPr>
          <p:cNvSpPr txBox="1"/>
          <p:nvPr/>
        </p:nvSpPr>
        <p:spPr>
          <a:xfrm>
            <a:off x="6624918" y="5235793"/>
            <a:ext cx="40222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 “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檔案內容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檔案名稱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副檔名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D60149B3-1506-B58B-9509-70FC5E3CB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951" y="5683113"/>
            <a:ext cx="2181225" cy="1000125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52E8803E-CA6A-3C68-DF29-3DAB694D734E}"/>
              </a:ext>
            </a:extLst>
          </p:cNvPr>
          <p:cNvSpPr txBox="1"/>
          <p:nvPr/>
        </p:nvSpPr>
        <p:spPr>
          <a:xfrm>
            <a:off x="6104263" y="6333508"/>
            <a:ext cx="47624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NewGitRepository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目錄中出現剛才所新增的檔案，及檔案內容。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1D25E543-FCB3-B171-FE95-92D47BBDC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882" y="5839410"/>
            <a:ext cx="1590675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881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32A17-5789-AF87-3411-16F935C2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1F09EC-0B75-DC61-1065-29FFC9AC1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5948643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9EE9B5-33D8-A26B-C06C-8CFD368AF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57112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將新建立的檔案存入暫存區</a:t>
            </a:r>
            <a:r>
              <a:rPr lang="en-US" altLang="zh-TW" dirty="0">
                <a:solidFill>
                  <a:srgbClr val="00B0F0"/>
                </a:solidFill>
              </a:rPr>
              <a:t>(</a:t>
            </a:r>
            <a:r>
              <a:rPr lang="zh-TW" altLang="en-US" dirty="0">
                <a:solidFill>
                  <a:srgbClr val="00B0F0"/>
                </a:solidFill>
              </a:rPr>
              <a:t>進行追蹤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01D1101-ED7D-F893-BE10-D0A92CA11880}"/>
              </a:ext>
            </a:extLst>
          </p:cNvPr>
          <p:cNvSpPr txBox="1"/>
          <p:nvPr/>
        </p:nvSpPr>
        <p:spPr>
          <a:xfrm>
            <a:off x="1717954" y="2747130"/>
            <a:ext cx="4790422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40248F0-66D1-7D2B-E347-CF48A88AD79F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319578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新建檔案追蹤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FD7AEF-F4D9-B768-DA41-874E43B6A37F}"/>
              </a:ext>
            </a:extLst>
          </p:cNvPr>
          <p:cNvSpPr txBox="1"/>
          <p:nvPr/>
        </p:nvSpPr>
        <p:spPr>
          <a:xfrm>
            <a:off x="8177982" y="3887939"/>
            <a:ext cx="3191662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因為新增的檔案沒有進行追蹤，檔案名稱以紅色顏色提示要求使用者先進行追蹤後再做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動作。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E8C30B3-64E8-01EC-FF90-954AA7B64EC0}"/>
              </a:ext>
            </a:extLst>
          </p:cNvPr>
          <p:cNvSpPr txBox="1"/>
          <p:nvPr/>
        </p:nvSpPr>
        <p:spPr>
          <a:xfrm>
            <a:off x="2034848" y="5540447"/>
            <a:ext cx="2501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add test_file.txt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421A2BC-4D2C-3516-39A7-C7C1E1842AD3}"/>
              </a:ext>
            </a:extLst>
          </p:cNvPr>
          <p:cNvSpPr txBox="1"/>
          <p:nvPr/>
        </p:nvSpPr>
        <p:spPr>
          <a:xfrm>
            <a:off x="1717955" y="4895710"/>
            <a:ext cx="36429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指令將新增的檔案，進行追蹤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D2BA613-F64B-364C-73B2-6F21F37C9D92}"/>
              </a:ext>
            </a:extLst>
          </p:cNvPr>
          <p:cNvSpPr txBox="1"/>
          <p:nvPr/>
        </p:nvSpPr>
        <p:spPr>
          <a:xfrm>
            <a:off x="6588722" y="6410338"/>
            <a:ext cx="5316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新增的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test_file.txt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檔案會出現打勾的圖示，表示完成檔案追蹤。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20852F7-A9AE-783D-E6C9-0A9A491F3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847" y="3174617"/>
            <a:ext cx="5948643" cy="1672618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3868275F-0BC5-85AA-E4E9-D2C406378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532" y="5760678"/>
            <a:ext cx="199072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944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1532BE-DA99-EA06-A802-9CC78EE9A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78FFB9-BDD2-7F29-2319-85C9D92FA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5948643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88F3F50-6E26-8449-38BC-E577BA2B51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6329844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將</a:t>
            </a:r>
            <a:r>
              <a:rPr lang="en-US" altLang="zh-TW" dirty="0">
                <a:solidFill>
                  <a:srgbClr val="00B0F0"/>
                </a:solidFill>
              </a:rPr>
              <a:t>Git Repository</a:t>
            </a:r>
            <a:r>
              <a:rPr lang="zh-TW" altLang="en-US" dirty="0">
                <a:solidFill>
                  <a:srgbClr val="00B0F0"/>
                </a:solidFill>
              </a:rPr>
              <a:t>進行</a:t>
            </a:r>
            <a:r>
              <a:rPr lang="en-US" altLang="zh-TW" dirty="0">
                <a:solidFill>
                  <a:srgbClr val="00B0F0"/>
                </a:solidFill>
              </a:rPr>
              <a:t>Commit(</a:t>
            </a:r>
            <a:r>
              <a:rPr lang="zh-TW" altLang="en-US" dirty="0">
                <a:solidFill>
                  <a:srgbClr val="00B0F0"/>
                </a:solidFill>
              </a:rPr>
              <a:t>理解為存檔的概念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5E97B2-CD73-11AA-0BB9-D101C8F884AC}"/>
              </a:ext>
            </a:extLst>
          </p:cNvPr>
          <p:cNvSpPr txBox="1"/>
          <p:nvPr/>
        </p:nvSpPr>
        <p:spPr>
          <a:xfrm>
            <a:off x="1717954" y="2747130"/>
            <a:ext cx="4790422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81A07E7F-7A42-8C4B-3678-3E84FE9E12CD}"/>
              </a:ext>
            </a:extLst>
          </p:cNvPr>
          <p:cNvSpPr txBox="1">
            <a:spLocks/>
          </p:cNvSpPr>
          <p:nvPr/>
        </p:nvSpPr>
        <p:spPr>
          <a:xfrm>
            <a:off x="1340358" y="2252412"/>
            <a:ext cx="4388089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將</a:t>
            </a:r>
            <a:r>
              <a:rPr lang="en-US" altLang="zh-TW" sz="1600" dirty="0">
                <a:solidFill>
                  <a:schemeClr val="bg1"/>
                </a:solidFill>
              </a:rPr>
              <a:t>NewGitRepository</a:t>
            </a:r>
            <a:r>
              <a:rPr lang="zh-TW" altLang="en-US" sz="1600" dirty="0">
                <a:solidFill>
                  <a:schemeClr val="bg1"/>
                </a:solidFill>
              </a:rPr>
              <a:t>中所有的內容進行</a:t>
            </a:r>
            <a:r>
              <a:rPr lang="en-US" altLang="zh-TW" sz="1600" dirty="0">
                <a:solidFill>
                  <a:schemeClr val="bg1"/>
                </a:solidFill>
              </a:rPr>
              <a:t>Commit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6D8E2B2-4357-182B-3E48-5EFA36330401}"/>
              </a:ext>
            </a:extLst>
          </p:cNvPr>
          <p:cNvSpPr txBox="1"/>
          <p:nvPr/>
        </p:nvSpPr>
        <p:spPr>
          <a:xfrm>
            <a:off x="8133157" y="3977661"/>
            <a:ext cx="3879548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已進行了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將檔案進行追蹤，檔案名稱變為綠色，但仍處於為存檔狀態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(No commits yet )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0A04761-C550-CC3B-D99A-6BFC4997AD2B}"/>
              </a:ext>
            </a:extLst>
          </p:cNvPr>
          <p:cNvSpPr txBox="1"/>
          <p:nvPr/>
        </p:nvSpPr>
        <p:spPr>
          <a:xfrm>
            <a:off x="2034847" y="5339830"/>
            <a:ext cx="34336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commit –m “First commit”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DFA0FE7-C8C0-3CCC-35FE-0CE4E6163444}"/>
              </a:ext>
            </a:extLst>
          </p:cNvPr>
          <p:cNvSpPr txBox="1"/>
          <p:nvPr/>
        </p:nvSpPr>
        <p:spPr>
          <a:xfrm>
            <a:off x="1717954" y="4895710"/>
            <a:ext cx="5166939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指令進行存檔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AECD62F-4AE0-07B6-7506-7F9F66B025B5}"/>
              </a:ext>
            </a:extLst>
          </p:cNvPr>
          <p:cNvSpPr txBox="1"/>
          <p:nvPr/>
        </p:nvSpPr>
        <p:spPr>
          <a:xfrm>
            <a:off x="8352383" y="5816270"/>
            <a:ext cx="3749875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後面的參數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–m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是要加入每一次進行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的簡要說明，不能空白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0638820-D59F-260E-6E0A-489AD33A2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679" y="3254305"/>
            <a:ext cx="6004944" cy="144671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5EE1E200-6CEB-0B66-1D47-CADB895B0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679" y="5706376"/>
            <a:ext cx="6329844" cy="842461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EB24B039-5556-4027-B66A-C11CDA465991}"/>
              </a:ext>
            </a:extLst>
          </p:cNvPr>
          <p:cNvSpPr txBox="1"/>
          <p:nvPr/>
        </p:nvSpPr>
        <p:spPr>
          <a:xfrm>
            <a:off x="5060382" y="5345040"/>
            <a:ext cx="5166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命令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(commit)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參數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“commit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的簡要說明文字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012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DD00A-0995-D6EB-3242-75514E443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245827-B405-8CB4-2B08-E9B0FADF7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5948643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35C46EB-351A-CDFB-6A8A-BDE8335BAD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6329844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將</a:t>
            </a:r>
            <a:r>
              <a:rPr lang="en-US" altLang="zh-TW" dirty="0">
                <a:solidFill>
                  <a:srgbClr val="00B0F0"/>
                </a:solidFill>
              </a:rPr>
              <a:t>Git Repository</a:t>
            </a:r>
            <a:r>
              <a:rPr lang="zh-TW" altLang="en-US" dirty="0">
                <a:solidFill>
                  <a:srgbClr val="00B0F0"/>
                </a:solidFill>
              </a:rPr>
              <a:t>進行</a:t>
            </a:r>
            <a:r>
              <a:rPr lang="en-US" altLang="zh-TW" dirty="0">
                <a:solidFill>
                  <a:srgbClr val="00B0F0"/>
                </a:solidFill>
              </a:rPr>
              <a:t>Commit(</a:t>
            </a:r>
            <a:r>
              <a:rPr lang="zh-TW" altLang="en-US" dirty="0">
                <a:solidFill>
                  <a:srgbClr val="00B0F0"/>
                </a:solidFill>
              </a:rPr>
              <a:t>理解為存檔的概念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4E5B34E1-96F3-5E67-A3A4-FA01AE67FA2D}"/>
              </a:ext>
            </a:extLst>
          </p:cNvPr>
          <p:cNvSpPr txBox="1">
            <a:spLocks/>
          </p:cNvSpPr>
          <p:nvPr/>
        </p:nvSpPr>
        <p:spPr>
          <a:xfrm>
            <a:off x="1340358" y="2252412"/>
            <a:ext cx="4388089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追加新的檔案到最新進行的</a:t>
            </a:r>
            <a:r>
              <a:rPr lang="en-US" altLang="zh-TW" sz="1600" dirty="0">
                <a:solidFill>
                  <a:schemeClr val="bg1"/>
                </a:solidFill>
              </a:rPr>
              <a:t>Commit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925BB02-DA3D-9216-B478-858AAC4E8C5C}"/>
              </a:ext>
            </a:extLst>
          </p:cNvPr>
          <p:cNvSpPr txBox="1"/>
          <p:nvPr/>
        </p:nvSpPr>
        <p:spPr>
          <a:xfrm>
            <a:off x="1717954" y="2747130"/>
            <a:ext cx="427047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指令將追加新增的檔案存入暫存區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2ADFFC7-B86B-E118-5A9F-D17BE24B8679}"/>
              </a:ext>
            </a:extLst>
          </p:cNvPr>
          <p:cNvSpPr txBox="1"/>
          <p:nvPr/>
        </p:nvSpPr>
        <p:spPr>
          <a:xfrm>
            <a:off x="2034847" y="5092946"/>
            <a:ext cx="34336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commit –-amend --no-edit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19796DC-BFAE-3104-49F0-5B9F5D065D7E}"/>
              </a:ext>
            </a:extLst>
          </p:cNvPr>
          <p:cNvSpPr txBox="1"/>
          <p:nvPr/>
        </p:nvSpPr>
        <p:spPr>
          <a:xfrm>
            <a:off x="1717954" y="4527738"/>
            <a:ext cx="6215811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指令，後面加上參數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--amend --no-edit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D28976AA-47BA-5BA4-690F-09CE49A5E27F}"/>
              </a:ext>
            </a:extLst>
          </p:cNvPr>
          <p:cNvSpPr txBox="1"/>
          <p:nvPr/>
        </p:nvSpPr>
        <p:spPr>
          <a:xfrm>
            <a:off x="6334460" y="5951402"/>
            <a:ext cx="3600953" cy="3456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直接將追加的檔案合併到最新一次的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中。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CDF7418-1A23-891C-B24F-A967AF472913}"/>
              </a:ext>
            </a:extLst>
          </p:cNvPr>
          <p:cNvSpPr txBox="1"/>
          <p:nvPr/>
        </p:nvSpPr>
        <p:spPr>
          <a:xfrm>
            <a:off x="5203817" y="5072941"/>
            <a:ext cx="4478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no-edit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就是代表此次的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不要加入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內容編輯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AF02831A-2004-6F04-81C3-0F59BEECC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722" y="2397680"/>
            <a:ext cx="5243947" cy="738810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4EC2DAD0-3073-DB2F-30BF-8E91C4D2F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3726" y="3393350"/>
            <a:ext cx="5450125" cy="1078129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3DBD206C-1A03-E952-C854-C05B07E41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5047" y="5644420"/>
            <a:ext cx="3600953" cy="8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895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82A9D9-DE65-9FDC-801B-CA651E8E4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684C87-3C9D-2C2D-C3DA-7F3F6EBE6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ABCD9E3-A92D-0762-E454-0F3D56923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建立遠端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目錄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D4D5D6D-E793-1F25-F8BC-56CE808CD2D6}"/>
              </a:ext>
            </a:extLst>
          </p:cNvPr>
          <p:cNvSpPr txBox="1"/>
          <p:nvPr/>
        </p:nvSpPr>
        <p:spPr>
          <a:xfrm>
            <a:off x="1717954" y="3135980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首先在當前的路徑下新增一個要作為遠端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指令查看當前路徑，或是切換到想要建立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的路徑，並使用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指令建立目錄，建立完成後切換到該目錄。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B0888157-CB95-8747-4DF1-E2F8661CE291}"/>
              </a:ext>
            </a:extLst>
          </p:cNvPr>
          <p:cNvSpPr txBox="1">
            <a:spLocks/>
          </p:cNvSpPr>
          <p:nvPr/>
        </p:nvSpPr>
        <p:spPr>
          <a:xfrm>
            <a:off x="1340359" y="2530295"/>
            <a:ext cx="3410935" cy="33941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</a:t>
            </a:r>
            <a:r>
              <a:rPr lang="en-US" altLang="zh-TW" sz="1600" dirty="0">
                <a:solidFill>
                  <a:schemeClr val="bg1"/>
                </a:solidFill>
              </a:rPr>
              <a:t>Remote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5AEE6C9-2AED-5D81-62B7-C39F1704B49C}"/>
              </a:ext>
            </a:extLst>
          </p:cNvPr>
          <p:cNvSpPr txBox="1"/>
          <p:nvPr/>
        </p:nvSpPr>
        <p:spPr>
          <a:xfrm>
            <a:off x="2034847" y="4277403"/>
            <a:ext cx="9762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mkdir RemoteGitRepository.git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遠端倉庫名稱可自行定義，這邊要注意的是遠端倉庫的建立，其檔案名稱後要加上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 RemoteGitRepository.git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切換到建立好的遠端倉庫目錄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2A548C1-B211-8668-8F18-325331A5E238}"/>
              </a:ext>
            </a:extLst>
          </p:cNvPr>
          <p:cNvSpPr txBox="1"/>
          <p:nvPr/>
        </p:nvSpPr>
        <p:spPr>
          <a:xfrm>
            <a:off x="2034847" y="5897618"/>
            <a:ext cx="8830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/d/CAI_Project/RemoteGitRepository.git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init ––bare </a:t>
            </a:r>
            <a:r>
              <a:rPr lang="en-US" altLang="zh-TW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這裡要注意的是初始化與先前的</a:t>
            </a:r>
            <a:r>
              <a:rPr lang="en-US" altLang="zh-TW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倉庫不同，遠端</a:t>
            </a:r>
            <a:r>
              <a:rPr lang="en-US" altLang="zh-TW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倉庫的初始化要加上參數 </a:t>
            </a:r>
            <a:r>
              <a:rPr lang="en-US" altLang="zh-TW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--bare</a:t>
            </a:r>
            <a:endParaRPr lang="zh-TW" altLang="en-US" sz="1200" dirty="0">
              <a:solidFill>
                <a:schemeClr val="accent5">
                  <a:lumMod val="20000"/>
                  <a:lumOff val="8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41F87C0-611A-9FD1-A8DD-B7421494E4DE}"/>
              </a:ext>
            </a:extLst>
          </p:cNvPr>
          <p:cNvSpPr txBox="1">
            <a:spLocks/>
          </p:cNvSpPr>
          <p:nvPr/>
        </p:nvSpPr>
        <p:spPr>
          <a:xfrm>
            <a:off x="1340358" y="5259679"/>
            <a:ext cx="3796417" cy="46166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初始化</a:t>
            </a:r>
            <a:r>
              <a:rPr lang="en-US" altLang="zh-TW" sz="1600" dirty="0">
                <a:solidFill>
                  <a:schemeClr val="bg1"/>
                </a:solidFill>
              </a:rPr>
              <a:t>Remote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3326759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B869BC-F225-87F2-3E43-C751BD8B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620685-3CEE-B4CB-5C01-71434B099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37BA50-EF39-2055-1154-EE4A286B7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建立遠端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目錄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1BC4B93-41CA-C332-1FFD-F3D330791DEF}"/>
              </a:ext>
            </a:extLst>
          </p:cNvPr>
          <p:cNvSpPr txBox="1"/>
          <p:nvPr/>
        </p:nvSpPr>
        <p:spPr>
          <a:xfrm>
            <a:off x="1717954" y="2863344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將目錄路徑切換到本地端的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，依照下列指令設定在這個目錄下的資料要推送到遠端的節點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(URL)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，以上述所建立的遠端倉庫為例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48591BF2-A41E-8B54-FABA-AF4712BFC073}"/>
              </a:ext>
            </a:extLst>
          </p:cNvPr>
          <p:cNvSpPr txBox="1">
            <a:spLocks/>
          </p:cNvSpPr>
          <p:nvPr/>
        </p:nvSpPr>
        <p:spPr>
          <a:xfrm>
            <a:off x="1340358" y="2427667"/>
            <a:ext cx="3966747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設定</a:t>
            </a:r>
            <a:r>
              <a:rPr lang="en-US" altLang="zh-TW" sz="1600" dirty="0">
                <a:solidFill>
                  <a:schemeClr val="bg1"/>
                </a:solidFill>
              </a:rPr>
              <a:t>Remote Git Repository</a:t>
            </a:r>
            <a:r>
              <a:rPr lang="zh-TW" altLang="en-US" sz="1600" dirty="0">
                <a:solidFill>
                  <a:schemeClr val="bg1"/>
                </a:solidFill>
              </a:rPr>
              <a:t>遠端節點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F3E1B16-D632-8406-5F52-FD2E06F7C63F}"/>
              </a:ext>
            </a:extLst>
          </p:cNvPr>
          <p:cNvSpPr txBox="1"/>
          <p:nvPr/>
        </p:nvSpPr>
        <p:spPr>
          <a:xfrm>
            <a:off x="2034847" y="3910521"/>
            <a:ext cx="66698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remote add origin d:/Daniel_SIDE_PROJECT/TestDoc/</a:t>
            </a:r>
            <a:r>
              <a:rPr lang="en-US" altLang="zh-TW" sz="1200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RemoteGit.git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2E92DE7C-2642-7584-AC47-BA33A34DD7E0}"/>
              </a:ext>
            </a:extLst>
          </p:cNvPr>
          <p:cNvSpPr txBox="1">
            <a:spLocks/>
          </p:cNvSpPr>
          <p:nvPr/>
        </p:nvSpPr>
        <p:spPr>
          <a:xfrm>
            <a:off x="1340359" y="4524740"/>
            <a:ext cx="3410935" cy="33941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確認遠端節點</a:t>
            </a:r>
            <a:r>
              <a:rPr lang="en-US" altLang="zh-TW" sz="1600" dirty="0">
                <a:solidFill>
                  <a:schemeClr val="bg1"/>
                </a:solidFill>
              </a:rPr>
              <a:t>(URL)</a:t>
            </a:r>
            <a:r>
              <a:rPr lang="zh-TW" altLang="en-US" sz="1600" dirty="0">
                <a:solidFill>
                  <a:schemeClr val="bg1"/>
                </a:solidFill>
              </a:rPr>
              <a:t>設定狀態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775DD89-B1BE-5C84-CA4C-68F9908F9E0B}"/>
              </a:ext>
            </a:extLst>
          </p:cNvPr>
          <p:cNvSpPr txBox="1"/>
          <p:nvPr/>
        </p:nvSpPr>
        <p:spPr>
          <a:xfrm>
            <a:off x="2034847" y="3655591"/>
            <a:ext cx="5567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遠端倉庫路徑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d:/Daniel_SIDE_PROJECT/TestDoc/</a:t>
            </a:r>
            <a:r>
              <a:rPr lang="en-US" altLang="zh-TW" sz="1200" dirty="0" err="1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RemoteGit.git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B3A339E-327F-8420-174D-26DFB1710A0A}"/>
              </a:ext>
            </a:extLst>
          </p:cNvPr>
          <p:cNvSpPr txBox="1"/>
          <p:nvPr/>
        </p:nvSpPr>
        <p:spPr>
          <a:xfrm>
            <a:off x="1717954" y="4864159"/>
            <a:ext cx="4873346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完成上述的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推送節點設定後，下達以下指令確認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C4A3CA1-8E68-3F2E-0DDA-B538278B2D93}"/>
              </a:ext>
            </a:extLst>
          </p:cNvPr>
          <p:cNvSpPr txBox="1"/>
          <p:nvPr/>
        </p:nvSpPr>
        <p:spPr>
          <a:xfrm>
            <a:off x="2034847" y="5313053"/>
            <a:ext cx="66698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tengc@MSI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/d/Daniel_SIDE_PROJECT/TestDoc/LocalGit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remote –v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origin d:/Daniel_SIDE_PROJECT/TestDoc/</a:t>
            </a:r>
            <a:r>
              <a:rPr lang="en-US" altLang="zh-TW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RemoteGit.git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(fetch)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origin d:/Daniel_SIDE_PROJECT/TestDoc/</a:t>
            </a:r>
            <a:r>
              <a:rPr lang="en-US" altLang="zh-TW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RemoteGit.git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(push)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06D2F73-6DEE-CD1B-1E77-99ECAC62B295}"/>
              </a:ext>
            </a:extLst>
          </p:cNvPr>
          <p:cNvSpPr txBox="1"/>
          <p:nvPr/>
        </p:nvSpPr>
        <p:spPr>
          <a:xfrm>
            <a:off x="1717953" y="6277997"/>
            <a:ext cx="7711797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如成功完成推送遠端節點的設定，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“remote –v”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指令後會出現要推送的遠端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倉庫路徑。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E3DDA04-7AD5-FD81-938B-FAAEFFF2E2ED}"/>
              </a:ext>
            </a:extLst>
          </p:cNvPr>
          <p:cNvSpPr txBox="1"/>
          <p:nvPr/>
        </p:nvSpPr>
        <p:spPr>
          <a:xfrm>
            <a:off x="2865438" y="4166745"/>
            <a:ext cx="5166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命令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(remote)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參數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(add origin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遠端節點的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URL)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3550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00B80B-C921-039F-AE17-4542E1A5D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642623-80B8-E94B-9BB4-8DF293978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FA31FD-F1CF-0FE2-703D-E08A1C8B1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913421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Clone(</a:t>
            </a:r>
            <a:r>
              <a:rPr lang="zh-TW" altLang="en-US" dirty="0">
                <a:solidFill>
                  <a:srgbClr val="00B0F0"/>
                </a:solidFill>
              </a:rPr>
              <a:t>克隆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r>
              <a:rPr lang="zh-TW" altLang="en-US" dirty="0">
                <a:solidFill>
                  <a:srgbClr val="00B0F0"/>
                </a:solidFill>
              </a:rPr>
              <a:t>遠端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目錄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F971187-F91B-57A9-D832-4BD436A4AF23}"/>
              </a:ext>
            </a:extLst>
          </p:cNvPr>
          <p:cNvSpPr txBox="1"/>
          <p:nvPr/>
        </p:nvSpPr>
        <p:spPr>
          <a:xfrm>
            <a:off x="1717954" y="2863344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將目錄路徑切換到本地端任何一個想要存放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資料的目錄，使用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“clone”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指令將遠端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倉庫整個克隆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複製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到這個資料夾目錄中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(clone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的資料包含所有的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數據，修改文件與修改記錄等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3E4E6351-AF2F-3258-B6B7-DD66AE5F33F3}"/>
              </a:ext>
            </a:extLst>
          </p:cNvPr>
          <p:cNvSpPr txBox="1">
            <a:spLocks/>
          </p:cNvSpPr>
          <p:nvPr/>
        </p:nvSpPr>
        <p:spPr>
          <a:xfrm>
            <a:off x="1340358" y="2427667"/>
            <a:ext cx="3912960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切換到本地端的任何一個資料夾目錄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02516ED-66B6-B264-2523-0129E2180980}"/>
              </a:ext>
            </a:extLst>
          </p:cNvPr>
          <p:cNvSpPr txBox="1"/>
          <p:nvPr/>
        </p:nvSpPr>
        <p:spPr>
          <a:xfrm>
            <a:off x="2651883" y="5961479"/>
            <a:ext cx="74138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完成後會出現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“cloning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‘RemoteGit’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字樣，同時在資料夾中會出現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下來的所有數據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與遠端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相同的資料內容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A8DDC12-9A75-AB04-9570-3EA587CC7131}"/>
              </a:ext>
            </a:extLst>
          </p:cNvPr>
          <p:cNvSpPr txBox="1"/>
          <p:nvPr/>
        </p:nvSpPr>
        <p:spPr>
          <a:xfrm>
            <a:off x="1918377" y="3877170"/>
            <a:ext cx="5854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tengc@MSI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/d/Daniel_SIDE_PROJECT/clone_test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clone d:/Daniel_SIDE_PROJECT/TestDoc/</a:t>
            </a:r>
            <a:r>
              <a:rPr lang="en-US" altLang="zh-TW" sz="1200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RemoteGit.git</a:t>
            </a:r>
            <a:endParaRPr lang="en-US" altLang="zh-TW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67E96BE7-C838-22D6-A2E7-A3E3DBCB7C55}"/>
              </a:ext>
            </a:extLst>
          </p:cNvPr>
          <p:cNvSpPr txBox="1"/>
          <p:nvPr/>
        </p:nvSpPr>
        <p:spPr>
          <a:xfrm>
            <a:off x="7353667" y="3987061"/>
            <a:ext cx="40030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命令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(clone)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參數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遠端節點的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URL)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492FC85C-2A0A-EBA7-92F9-B547E58A3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166" y="4815220"/>
            <a:ext cx="4873346" cy="669875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17A26E90-04F3-1D47-34C8-8BA38B4F8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1926" y="4786171"/>
            <a:ext cx="3012296" cy="727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1740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46F350-29EB-5802-A831-30FEAB3E8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5814E1-0D07-DF36-BF95-E4D00FA9A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D0A11D7-C4A5-9A8A-FFD3-492AD1210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5496127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Push(</a:t>
            </a:r>
            <a:r>
              <a:rPr lang="zh-TW" altLang="en-US" dirty="0">
                <a:solidFill>
                  <a:srgbClr val="00B0F0"/>
                </a:solidFill>
              </a:rPr>
              <a:t>推送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r>
              <a:rPr lang="zh-TW" altLang="en-US" dirty="0">
                <a:solidFill>
                  <a:srgbClr val="00B0F0"/>
                </a:solidFill>
              </a:rPr>
              <a:t>數據到遠端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目錄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C87BD18-FA3B-985B-54C0-EF9B35A851F1}"/>
              </a:ext>
            </a:extLst>
          </p:cNvPr>
          <p:cNvSpPr txBox="1"/>
          <p:nvPr/>
        </p:nvSpPr>
        <p:spPr>
          <a:xfrm>
            <a:off x="1717954" y="2625876"/>
            <a:ext cx="9918234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將剛才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下來的資料版本內容進行修改，修改完後使用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與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指令更新本地端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數據庫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F7DC9E2C-C41E-0635-73ED-0EDD9A15459F}"/>
              </a:ext>
            </a:extLst>
          </p:cNvPr>
          <p:cNvSpPr txBox="1">
            <a:spLocks/>
          </p:cNvSpPr>
          <p:nvPr/>
        </p:nvSpPr>
        <p:spPr>
          <a:xfrm>
            <a:off x="1340358" y="2289256"/>
            <a:ext cx="3168889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修改</a:t>
            </a:r>
            <a:r>
              <a:rPr lang="en-US" altLang="zh-TW" sz="1600" dirty="0">
                <a:solidFill>
                  <a:schemeClr val="bg1"/>
                </a:solidFill>
              </a:rPr>
              <a:t>clone</a:t>
            </a:r>
            <a:r>
              <a:rPr lang="zh-TW" altLang="en-US" sz="1600" dirty="0">
                <a:solidFill>
                  <a:schemeClr val="bg1"/>
                </a:solidFill>
              </a:rPr>
              <a:t>下來的文件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E68ED56-69C6-7C26-5D80-9EF4CD91C474}"/>
              </a:ext>
            </a:extLst>
          </p:cNvPr>
          <p:cNvSpPr txBox="1"/>
          <p:nvPr/>
        </p:nvSpPr>
        <p:spPr>
          <a:xfrm>
            <a:off x="4583572" y="3085829"/>
            <a:ext cx="23730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參考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page 8 and page 9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3513B655-33FF-DB38-FCF3-07F80694BC5C}"/>
              </a:ext>
            </a:extLst>
          </p:cNvPr>
          <p:cNvSpPr txBox="1">
            <a:spLocks/>
          </p:cNvSpPr>
          <p:nvPr/>
        </p:nvSpPr>
        <p:spPr>
          <a:xfrm>
            <a:off x="1340358" y="3370964"/>
            <a:ext cx="3168889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推送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到遠端數據庫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B0F3A7E-0B7F-98BA-BFF8-B19C7BF3790C}"/>
              </a:ext>
            </a:extLst>
          </p:cNvPr>
          <p:cNvSpPr txBox="1"/>
          <p:nvPr/>
        </p:nvSpPr>
        <p:spPr>
          <a:xfrm>
            <a:off x="1981129" y="4312943"/>
            <a:ext cx="6616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tengc@MSI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/d/Daniel_SIDE_PROJECT/clone_test/RemoteGit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push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A1D02AB-9E96-9746-1104-B5D5193788C2}"/>
              </a:ext>
            </a:extLst>
          </p:cNvPr>
          <p:cNvSpPr txBox="1"/>
          <p:nvPr/>
        </p:nvSpPr>
        <p:spPr>
          <a:xfrm>
            <a:off x="1717954" y="3869014"/>
            <a:ext cx="3920846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“push”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指令進行版本推送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91F0B3AB-45D9-9572-EF87-AF62FBE46B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2863" y="4760609"/>
            <a:ext cx="4774455" cy="1259643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5583B6C8-FF61-114A-D752-2AF432419AC3}"/>
              </a:ext>
            </a:extLst>
          </p:cNvPr>
          <p:cNvSpPr txBox="1"/>
          <p:nvPr/>
        </p:nvSpPr>
        <p:spPr>
          <a:xfrm>
            <a:off x="1416423" y="6237085"/>
            <a:ext cx="89312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顯示推送版本到遠端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數據庫的信息以及要推送本地端某個分支到遠端的分支節點，以左圖例，即是將本地端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分支節點推送到遠端的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分支節點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5482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8949AB-C3E1-5412-C113-45D77003C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A7A89E-3358-F33C-635C-A82680813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CD1334E-696C-48ED-124F-550400F12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5496127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Push(</a:t>
            </a:r>
            <a:r>
              <a:rPr lang="zh-TW" altLang="en-US" dirty="0">
                <a:solidFill>
                  <a:srgbClr val="00B0F0"/>
                </a:solidFill>
              </a:rPr>
              <a:t>推送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r>
              <a:rPr lang="zh-TW" altLang="en-US" dirty="0">
                <a:solidFill>
                  <a:srgbClr val="00B0F0"/>
                </a:solidFill>
              </a:rPr>
              <a:t>新分支到遠端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新分支</a:t>
            </a:r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F5F62EB3-DD38-A0F2-E557-DEF1097D4922}"/>
              </a:ext>
            </a:extLst>
          </p:cNvPr>
          <p:cNvSpPr txBox="1">
            <a:spLocks/>
          </p:cNvSpPr>
          <p:nvPr/>
        </p:nvSpPr>
        <p:spPr>
          <a:xfrm>
            <a:off x="1340358" y="2431410"/>
            <a:ext cx="6503760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推送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到遠端數據庫，同時設定追蹤</a:t>
            </a:r>
            <a:r>
              <a:rPr lang="en-US" altLang="zh-TW" sz="1600" dirty="0">
                <a:solidFill>
                  <a:schemeClr val="bg1"/>
                </a:solidFill>
              </a:rPr>
              <a:t>(track)</a:t>
            </a:r>
            <a:r>
              <a:rPr lang="zh-TW" altLang="en-US" sz="1600" dirty="0">
                <a:solidFill>
                  <a:schemeClr val="bg1"/>
                </a:solidFill>
              </a:rPr>
              <a:t>遠端分支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78CC2848-B619-D87F-35F2-FEA7D6DAD172}"/>
              </a:ext>
            </a:extLst>
          </p:cNvPr>
          <p:cNvSpPr txBox="1"/>
          <p:nvPr/>
        </p:nvSpPr>
        <p:spPr>
          <a:xfrm>
            <a:off x="1717953" y="2974693"/>
            <a:ext cx="9389318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“push”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指令後加上參數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“— —set—upstream” &lt;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遠端分支路徑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本地端分支名稱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&gt;:&lt;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遠端分支名稱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1D7F75B-2E4A-5543-0FC3-0B66DC65F618}"/>
              </a:ext>
            </a:extLst>
          </p:cNvPr>
          <p:cNvSpPr txBox="1"/>
          <p:nvPr/>
        </p:nvSpPr>
        <p:spPr>
          <a:xfrm>
            <a:off x="1981130" y="3493191"/>
            <a:ext cx="85255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push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––set–upstream d:/Daniel_SIDE_PROJECT/TestFolder/Remote master:master 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6DFB556-169B-B060-1BA3-0D20DD9216CF}"/>
              </a:ext>
            </a:extLst>
          </p:cNvPr>
          <p:cNvSpPr txBox="1"/>
          <p:nvPr/>
        </p:nvSpPr>
        <p:spPr>
          <a:xfrm>
            <a:off x="2227452" y="3944459"/>
            <a:ext cx="88170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語法說明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上述指令即是將本地端分支名稱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推送到遠地端分支名稱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，並同時設定本地端追蹤遠端分支路徑。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3C1CFFF9-1BC2-1B20-B45A-660F582A4CB9}"/>
              </a:ext>
            </a:extLst>
          </p:cNvPr>
          <p:cNvSpPr txBox="1"/>
          <p:nvPr/>
        </p:nvSpPr>
        <p:spPr>
          <a:xfrm>
            <a:off x="3988094" y="6299394"/>
            <a:ext cx="42158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紅框上指出已設定本地端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分支追蹤遠端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FB27BF0C-8178-EBF7-1422-86006A3FC7BA}"/>
              </a:ext>
            </a:extLst>
          </p:cNvPr>
          <p:cNvGrpSpPr/>
          <p:nvPr/>
        </p:nvGrpSpPr>
        <p:grpSpPr>
          <a:xfrm>
            <a:off x="2600048" y="4572121"/>
            <a:ext cx="6991902" cy="1464644"/>
            <a:chOff x="2600048" y="4572121"/>
            <a:chExt cx="6991902" cy="1464644"/>
          </a:xfrm>
        </p:grpSpPr>
        <p:pic>
          <p:nvPicPr>
            <p:cNvPr id="20" name="圖片 19">
              <a:extLst>
                <a:ext uri="{FF2B5EF4-FFF2-40B4-BE49-F238E27FC236}">
                  <a16:creationId xmlns:a16="http://schemas.microsoft.com/office/drawing/2014/main" id="{3E9D9419-205E-27B7-4FAA-051A72F1E0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00049" y="4572121"/>
              <a:ext cx="6991901" cy="1435535"/>
            </a:xfrm>
            <a:prstGeom prst="rect">
              <a:avLst/>
            </a:prstGeom>
          </p:spPr>
        </p:pic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6DA336A-50FB-4F0A-1748-5C043B0251C3}"/>
                </a:ext>
              </a:extLst>
            </p:cNvPr>
            <p:cNvSpPr/>
            <p:nvPr/>
          </p:nvSpPr>
          <p:spPr>
            <a:xfrm>
              <a:off x="2600048" y="5759766"/>
              <a:ext cx="6991901" cy="276999"/>
            </a:xfrm>
            <a:prstGeom prst="rect">
              <a:avLst/>
            </a:prstGeom>
            <a:noFill/>
            <a:ln w="19050"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941307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8CDC47-36B1-B360-EAA4-F44D659AF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394C69-98E3-72CE-EDE3-614A86ADC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A6903D1-8125-3F25-AD3C-8AC22D315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5496127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Pull(</a:t>
            </a:r>
            <a:r>
              <a:rPr lang="zh-TW" altLang="en-US" dirty="0">
                <a:solidFill>
                  <a:srgbClr val="00B0F0"/>
                </a:solidFill>
              </a:rPr>
              <a:t>拉取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r>
              <a:rPr lang="zh-TW" altLang="en-US" dirty="0">
                <a:solidFill>
                  <a:srgbClr val="00B0F0"/>
                </a:solidFill>
              </a:rPr>
              <a:t>數據到本地端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目錄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FA9F214-4307-AD3D-1615-8B1DEA323C9A}"/>
              </a:ext>
            </a:extLst>
          </p:cNvPr>
          <p:cNvSpPr txBox="1"/>
          <p:nvPr/>
        </p:nvSpPr>
        <p:spPr>
          <a:xfrm>
            <a:off x="1717954" y="2625876"/>
            <a:ext cx="4378046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“remote”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指令查詢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確認遠端分支路徑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89AB788-9C41-85BC-3828-6B16C65D6265}"/>
              </a:ext>
            </a:extLst>
          </p:cNvPr>
          <p:cNvSpPr txBox="1">
            <a:spLocks/>
          </p:cNvSpPr>
          <p:nvPr/>
        </p:nvSpPr>
        <p:spPr>
          <a:xfrm>
            <a:off x="1340358" y="2289256"/>
            <a:ext cx="3895030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確認遠端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分支</a:t>
            </a:r>
            <a:r>
              <a:rPr lang="en-US" altLang="zh-TW" sz="1600" dirty="0">
                <a:solidFill>
                  <a:schemeClr val="bg1"/>
                </a:solidFill>
              </a:rPr>
              <a:t>URL</a:t>
            </a:r>
            <a:r>
              <a:rPr lang="zh-TW" altLang="en-US" sz="1600" dirty="0">
                <a:solidFill>
                  <a:schemeClr val="bg1"/>
                </a:solidFill>
              </a:rPr>
              <a:t>路徑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91AD2E49-A8C2-355D-43AC-4EB3BD8AD022}"/>
              </a:ext>
            </a:extLst>
          </p:cNvPr>
          <p:cNvSpPr txBox="1">
            <a:spLocks/>
          </p:cNvSpPr>
          <p:nvPr/>
        </p:nvSpPr>
        <p:spPr>
          <a:xfrm>
            <a:off x="1340358" y="4778681"/>
            <a:ext cx="3168889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從遠端數據庫拉取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00E4677-434A-4BB5-9FDE-4693E433778F}"/>
              </a:ext>
            </a:extLst>
          </p:cNvPr>
          <p:cNvSpPr txBox="1"/>
          <p:nvPr/>
        </p:nvSpPr>
        <p:spPr>
          <a:xfrm>
            <a:off x="1981129" y="5583888"/>
            <a:ext cx="9681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/d/CAI_Porject/git_test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pull https://github.com/Jerry-Daniel/Git_Learning.git master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B6E91EC-F2E8-BC10-E427-363B7029E5FD}"/>
              </a:ext>
            </a:extLst>
          </p:cNvPr>
          <p:cNvSpPr txBox="1"/>
          <p:nvPr/>
        </p:nvSpPr>
        <p:spPr>
          <a:xfrm>
            <a:off x="1717954" y="5188894"/>
            <a:ext cx="3024375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“pull”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指令進行拉取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34D24C2-C2BF-5D85-CDE9-15CF2183C77B}"/>
              </a:ext>
            </a:extLst>
          </p:cNvPr>
          <p:cNvSpPr txBox="1"/>
          <p:nvPr/>
        </p:nvSpPr>
        <p:spPr>
          <a:xfrm>
            <a:off x="1981128" y="3492192"/>
            <a:ext cx="6616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/d/CAI_Porject/git_test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 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remote -v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17D3BB2-7F9E-96B7-198D-7FDBAD9D1F45}"/>
              </a:ext>
            </a:extLst>
          </p:cNvPr>
          <p:cNvSpPr txBox="1"/>
          <p:nvPr/>
        </p:nvSpPr>
        <p:spPr>
          <a:xfrm>
            <a:off x="1981129" y="3133437"/>
            <a:ext cx="68670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命令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(remote)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參數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(-v)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參數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是顯示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用來讀寫遠端分支目錄的路徑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95F3BD7E-AD3A-0B7E-B6CD-804A9343C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1612" y="3966340"/>
            <a:ext cx="5496127" cy="690729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C6948417-AF69-6E18-0EA4-35EA48DDED96}"/>
              </a:ext>
            </a:extLst>
          </p:cNvPr>
          <p:cNvSpPr txBox="1"/>
          <p:nvPr/>
        </p:nvSpPr>
        <p:spPr>
          <a:xfrm>
            <a:off x="7924729" y="4320304"/>
            <a:ext cx="3003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用來讀寫遠端分支目錄的路徑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2065C5D-207F-F8A2-91BC-96FF04499582}"/>
              </a:ext>
            </a:extLst>
          </p:cNvPr>
          <p:cNvSpPr txBox="1"/>
          <p:nvPr/>
        </p:nvSpPr>
        <p:spPr>
          <a:xfrm>
            <a:off x="1408444" y="6052620"/>
            <a:ext cx="44407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命令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(pull)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參數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(remote URL)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08E8A00-6476-09AC-8EDC-28A28EE10D88}"/>
              </a:ext>
            </a:extLst>
          </p:cNvPr>
          <p:cNvSpPr txBox="1"/>
          <p:nvPr/>
        </p:nvSpPr>
        <p:spPr>
          <a:xfrm>
            <a:off x="2097287" y="6408712"/>
            <a:ext cx="6966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#remote URL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就是要拉取的遠端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版本庫的網址，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是指定從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這個分支拉取資料。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0543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FD5B1D-57CD-406A-A2FC-21A721933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A94911-A089-B323-BF3F-C116C85BA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279119-064B-6CB0-5B37-A23CE0543C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5496127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 Branch –</a:t>
            </a:r>
            <a:r>
              <a:rPr lang="zh-TW" altLang="en-US" dirty="0">
                <a:solidFill>
                  <a:srgbClr val="00B0F0"/>
                </a:solidFill>
              </a:rPr>
              <a:t>分支建立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DC921A3-36FA-C809-6DA4-94BE9DBA1EFA}"/>
              </a:ext>
            </a:extLst>
          </p:cNvPr>
          <p:cNvSpPr txBox="1"/>
          <p:nvPr/>
        </p:nvSpPr>
        <p:spPr>
          <a:xfrm>
            <a:off x="1717953" y="2625876"/>
            <a:ext cx="9416211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從遠端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克隆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(clone)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下來的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庫，其預設的分支為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，修改、合併也都是在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上操作，若要在不動到主版本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分支的版本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的條件下另外建立一個開發版本，就必須另外建立一個分支獨立出來，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FE181540-1A39-2715-1663-320166D453F4}"/>
              </a:ext>
            </a:extLst>
          </p:cNvPr>
          <p:cNvSpPr txBox="1">
            <a:spLocks/>
          </p:cNvSpPr>
          <p:nvPr/>
        </p:nvSpPr>
        <p:spPr>
          <a:xfrm>
            <a:off x="1340358" y="2289256"/>
            <a:ext cx="3895030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在本地端的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版本庫中新建分支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9728614-54B5-D2B4-AD5E-8CAF4F953D54}"/>
              </a:ext>
            </a:extLst>
          </p:cNvPr>
          <p:cNvSpPr txBox="1"/>
          <p:nvPr/>
        </p:nvSpPr>
        <p:spPr>
          <a:xfrm>
            <a:off x="1717953" y="4771452"/>
            <a:ext cx="8636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/d/CAI_Porject/TestFolder/LocalGit/RemoteGit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 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log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表示要查看目前所在的分支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6A4CD2A-10AE-5CFA-1D69-2EDFAF8798BF}"/>
              </a:ext>
            </a:extLst>
          </p:cNvPr>
          <p:cNvSpPr txBox="1"/>
          <p:nvPr/>
        </p:nvSpPr>
        <p:spPr>
          <a:xfrm>
            <a:off x="3397552" y="3483807"/>
            <a:ext cx="40252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命令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(branch)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參數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自訂的分支名稱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054FD410-D1E9-A066-43C1-3241EF806DED}"/>
              </a:ext>
            </a:extLst>
          </p:cNvPr>
          <p:cNvSpPr txBox="1"/>
          <p:nvPr/>
        </p:nvSpPr>
        <p:spPr>
          <a:xfrm>
            <a:off x="1717953" y="3868266"/>
            <a:ext cx="9311518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前置作業</a:t>
            </a:r>
            <a:r>
              <a:rPr lang="en-US" altLang="zh-TW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zh-TW" altLang="en-US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動作</a:t>
            </a:r>
            <a:r>
              <a:rPr lang="en-US" altLang="zh-TW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先將遠端</a:t>
            </a:r>
            <a:r>
              <a:rPr lang="en-US" altLang="zh-TW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克隆</a:t>
            </a:r>
            <a:r>
              <a:rPr lang="en-US" altLang="zh-TW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(clone)</a:t>
            </a:r>
            <a:r>
              <a:rPr lang="zh-TW" altLang="en-US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到本地端的資料夾中，而克隆下來的分支預設就是</a:t>
            </a:r>
            <a:r>
              <a:rPr lang="en-US" altLang="zh-TW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，並切換到克隆的目錄，可以使用</a:t>
            </a:r>
            <a:r>
              <a:rPr lang="en-US" altLang="zh-TW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“git</a:t>
            </a:r>
            <a:r>
              <a:rPr lang="zh-TW" altLang="en-US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log”</a:t>
            </a:r>
            <a:r>
              <a:rPr lang="zh-TW" altLang="en-US" sz="1400" dirty="0">
                <a:solidFill>
                  <a:schemeClr val="tx2">
                    <a:lumMod val="25000"/>
                    <a:lumOff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指令來查看目前所在的分支。</a:t>
            </a:r>
            <a:endParaRPr lang="en-US" altLang="zh-TW" sz="1400" dirty="0">
              <a:solidFill>
                <a:schemeClr val="tx2">
                  <a:lumMod val="25000"/>
                  <a:lumOff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2C1F5289-C48A-7302-6CB2-CFC977720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8558" y="5514304"/>
            <a:ext cx="6943725" cy="525394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1590A5CD-F240-8523-59A1-105AF366B69F}"/>
              </a:ext>
            </a:extLst>
          </p:cNvPr>
          <p:cNvSpPr txBox="1"/>
          <p:nvPr/>
        </p:nvSpPr>
        <p:spPr>
          <a:xfrm>
            <a:off x="2305854" y="6195379"/>
            <a:ext cx="67664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“your current branch ‘master’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，訊息中很明確的指出目前所在的分支是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，只是目前是沒有任何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的資料。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83526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B5B5D-3DE4-894E-A93C-F4930B2F3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2A4D8E-ECA3-3752-4EC1-C4296FA3F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102718"/>
            <a:ext cx="6739776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115767B-77DC-A1C4-3B54-FA9B5AA25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5496127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 Branch –</a:t>
            </a:r>
            <a:r>
              <a:rPr lang="zh-TW" altLang="en-US" dirty="0">
                <a:solidFill>
                  <a:srgbClr val="00B0F0"/>
                </a:solidFill>
              </a:rPr>
              <a:t>分支建立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9BAB30-B9E2-AC52-0518-6DFA6240296C}"/>
              </a:ext>
            </a:extLst>
          </p:cNvPr>
          <p:cNvSpPr txBox="1"/>
          <p:nvPr/>
        </p:nvSpPr>
        <p:spPr>
          <a:xfrm>
            <a:off x="1717953" y="2625876"/>
            <a:ext cx="6359247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接下來使用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”git branch &lt;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分支名稱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這個語法建立一個新的分支節點，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D10D3D74-C6E1-8E92-BA20-5D508612DAEE}"/>
              </a:ext>
            </a:extLst>
          </p:cNvPr>
          <p:cNvSpPr txBox="1">
            <a:spLocks/>
          </p:cNvSpPr>
          <p:nvPr/>
        </p:nvSpPr>
        <p:spPr>
          <a:xfrm>
            <a:off x="1340358" y="2289256"/>
            <a:ext cx="3895030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在本地端的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版本庫中新建分支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F794305-29A8-D6E7-C45C-7D8917A2D642}"/>
              </a:ext>
            </a:extLst>
          </p:cNvPr>
          <p:cNvSpPr txBox="1"/>
          <p:nvPr/>
        </p:nvSpPr>
        <p:spPr>
          <a:xfrm>
            <a:off x="1717953" y="3006306"/>
            <a:ext cx="8636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/d/CAI_Porject/TestFolder/LocalGit/RemoteGit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 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branch second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99F9BE8-CD1B-052D-881D-A9D08D789D49}"/>
              </a:ext>
            </a:extLst>
          </p:cNvPr>
          <p:cNvSpPr txBox="1"/>
          <p:nvPr/>
        </p:nvSpPr>
        <p:spPr>
          <a:xfrm>
            <a:off x="949496" y="6540942"/>
            <a:ext cx="94854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“git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log”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查看分支狀態，可以看到有兩個分支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(master, second)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，然後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指向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，表示目前操作的分支是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。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08E8E08-3C2F-8AE8-6F97-EE85FEAF3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228" y="3532061"/>
            <a:ext cx="7152995" cy="50725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61D78BCF-9B80-1382-005A-61C89696F921}"/>
              </a:ext>
            </a:extLst>
          </p:cNvPr>
          <p:cNvSpPr txBox="1"/>
          <p:nvPr/>
        </p:nvSpPr>
        <p:spPr>
          <a:xfrm>
            <a:off x="874024" y="4023867"/>
            <a:ext cx="10656984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出現錯誤了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altLang="zh-TW" sz="1200" dirty="0">
                <a:solidFill>
                  <a:schemeClr val="accent5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fatal: not a valid object name: ‘master’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，因為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『</a:t>
            </a:r>
            <a:r>
              <a:rPr lang="zh-TW" altLang="en-US" sz="1200" b="1" i="1" dirty="0">
                <a:solidFill>
                  <a:srgbClr val="FF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分支建立的條件是建立在已有的提交上進行創建的</a:t>
            </a:r>
            <a:r>
              <a:rPr lang="en-US" altLang="zh-TW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』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，而這個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目錄是空目錄，沒有任何提交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(commit)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，所以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依照之前的操作建立檔案、追蹤然後提交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(commit)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一次檔案之後再做一次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“git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branch”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。</a:t>
            </a:r>
            <a:endParaRPr lang="zh-TW" altLang="en-US" sz="12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2B43A236-317D-5D92-C44B-639E02F9A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232" y="4778478"/>
            <a:ext cx="6738097" cy="1519510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2FF6262F-E56D-F462-39A4-B9BFE76939F0}"/>
              </a:ext>
            </a:extLst>
          </p:cNvPr>
          <p:cNvGrpSpPr/>
          <p:nvPr/>
        </p:nvGrpSpPr>
        <p:grpSpPr>
          <a:xfrm>
            <a:off x="8475444" y="4737755"/>
            <a:ext cx="789706" cy="1634195"/>
            <a:chOff x="9608919" y="1912692"/>
            <a:chExt cx="789706" cy="1634195"/>
          </a:xfrm>
        </p:grpSpPr>
        <p:sp>
          <p:nvSpPr>
            <p:cNvPr id="16" name="圖說文字: 向下箭號 15">
              <a:extLst>
                <a:ext uri="{FF2B5EF4-FFF2-40B4-BE49-F238E27FC236}">
                  <a16:creationId xmlns:a16="http://schemas.microsoft.com/office/drawing/2014/main" id="{248A2896-2549-923B-EB51-171353C53B46}"/>
                </a:ext>
              </a:extLst>
            </p:cNvPr>
            <p:cNvSpPr/>
            <p:nvPr/>
          </p:nvSpPr>
          <p:spPr>
            <a:xfrm>
              <a:off x="9608919" y="1912692"/>
              <a:ext cx="780473" cy="283978"/>
            </a:xfrm>
            <a:prstGeom prst="downArrowCallout">
              <a:avLst>
                <a:gd name="adj1" fmla="val 41770"/>
                <a:gd name="adj2" fmla="val 40932"/>
                <a:gd name="adj3" fmla="val 25000"/>
                <a:gd name="adj4" fmla="val 64977"/>
              </a:avLst>
            </a:prstGeom>
            <a:noFill/>
            <a:ln w="1270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altLang="zh-TW" sz="1000" b="1" dirty="0">
                  <a:solidFill>
                    <a:srgbClr val="00B0F0"/>
                  </a:solidFill>
                </a:rPr>
                <a:t>HEAD</a:t>
              </a:r>
              <a:endParaRPr lang="zh-TW" altLang="en-US" sz="1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7F732277-E031-BCC2-1D22-57E98E0B9508}"/>
                </a:ext>
              </a:extLst>
            </p:cNvPr>
            <p:cNvGrpSpPr/>
            <p:nvPr/>
          </p:nvGrpSpPr>
          <p:grpSpPr>
            <a:xfrm>
              <a:off x="9819117" y="2745310"/>
              <a:ext cx="378544" cy="282710"/>
              <a:chOff x="6768151" y="1518439"/>
              <a:chExt cx="378544" cy="282710"/>
            </a:xfrm>
          </p:grpSpPr>
          <p:sp>
            <p:nvSpPr>
              <p:cNvPr id="18" name="流程圖: 接點 17">
                <a:extLst>
                  <a:ext uri="{FF2B5EF4-FFF2-40B4-BE49-F238E27FC236}">
                    <a16:creationId xmlns:a16="http://schemas.microsoft.com/office/drawing/2014/main" id="{01523689-2E58-D2C3-CC6A-65E56F5D485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808644" y="1518439"/>
                <a:ext cx="282710" cy="282710"/>
              </a:xfrm>
              <a:prstGeom prst="flowChartConnector">
                <a:avLst/>
              </a:prstGeom>
              <a:noFill/>
              <a:ln w="2222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TW" altLang="en-US" sz="1200" dirty="0"/>
              </a:p>
            </p:txBody>
          </p:sp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B40EA279-E991-B113-B290-FD3BBD222623}"/>
                  </a:ext>
                </a:extLst>
              </p:cNvPr>
              <p:cNvSpPr txBox="1"/>
              <p:nvPr/>
            </p:nvSpPr>
            <p:spPr>
              <a:xfrm>
                <a:off x="6768151" y="1523768"/>
                <a:ext cx="37854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200" b="1" dirty="0">
                    <a:solidFill>
                      <a:srgbClr val="00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C1</a:t>
                </a:r>
              </a:p>
            </p:txBody>
          </p:sp>
        </p:grpSp>
        <p:sp>
          <p:nvSpPr>
            <p:cNvPr id="21" name="圖說文字: 向下箭號 20">
              <a:extLst>
                <a:ext uri="{FF2B5EF4-FFF2-40B4-BE49-F238E27FC236}">
                  <a16:creationId xmlns:a16="http://schemas.microsoft.com/office/drawing/2014/main" id="{2BA3AC72-3AB9-E7A7-2F8D-1F23B95BAAC8}"/>
                </a:ext>
              </a:extLst>
            </p:cNvPr>
            <p:cNvSpPr/>
            <p:nvPr/>
          </p:nvSpPr>
          <p:spPr>
            <a:xfrm>
              <a:off x="9608919" y="2213596"/>
              <a:ext cx="780473" cy="491806"/>
            </a:xfrm>
            <a:prstGeom prst="downArrowCallout">
              <a:avLst/>
            </a:prstGeom>
            <a:noFill/>
            <a:ln w="2540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altLang="zh-TW" sz="1200" b="1" dirty="0">
                  <a:solidFill>
                    <a:srgbClr val="00FF00"/>
                  </a:solidFill>
                </a:rPr>
                <a:t>master</a:t>
              </a:r>
              <a:endParaRPr lang="zh-TW" altLang="en-US" sz="1200" b="1" dirty="0">
                <a:solidFill>
                  <a:srgbClr val="00FF00"/>
                </a:solidFill>
              </a:endParaRPr>
            </a:p>
          </p:txBody>
        </p:sp>
        <p:sp>
          <p:nvSpPr>
            <p:cNvPr id="23" name="圖說文字: 向上箭號 22">
              <a:extLst>
                <a:ext uri="{FF2B5EF4-FFF2-40B4-BE49-F238E27FC236}">
                  <a16:creationId xmlns:a16="http://schemas.microsoft.com/office/drawing/2014/main" id="{06D75DB2-7326-0645-BAEB-69F0DE002664}"/>
                </a:ext>
              </a:extLst>
            </p:cNvPr>
            <p:cNvSpPr/>
            <p:nvPr/>
          </p:nvSpPr>
          <p:spPr>
            <a:xfrm>
              <a:off x="9618152" y="3055081"/>
              <a:ext cx="780473" cy="491806"/>
            </a:xfrm>
            <a:prstGeom prst="upArrowCallout">
              <a:avLst>
                <a:gd name="adj1" fmla="val 25000"/>
                <a:gd name="adj2" fmla="val 25000"/>
                <a:gd name="adj3" fmla="val 25000"/>
                <a:gd name="adj4" fmla="val 64542"/>
              </a:avLst>
            </a:prstGeom>
            <a:noFill/>
            <a:ln w="25400">
              <a:solidFill>
                <a:schemeClr val="accent6"/>
              </a:solidFill>
              <a:round/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b="1" dirty="0">
                  <a:solidFill>
                    <a:srgbClr val="00FF00"/>
                  </a:solidFill>
                </a:rPr>
                <a:t>second</a:t>
              </a:r>
              <a:endParaRPr lang="zh-TW" altLang="en-US" sz="1200" b="1" dirty="0">
                <a:solidFill>
                  <a:srgbClr val="00FF00"/>
                </a:solidFill>
              </a:endParaRPr>
            </a:p>
          </p:txBody>
        </p:sp>
      </p:grp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4129C4C-CA7B-8A29-58D0-EB23D5A12D0C}"/>
              </a:ext>
            </a:extLst>
          </p:cNvPr>
          <p:cNvSpPr txBox="1"/>
          <p:nvPr/>
        </p:nvSpPr>
        <p:spPr>
          <a:xfrm>
            <a:off x="9423866" y="5253959"/>
            <a:ext cx="20221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目前的分支是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master,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表示所有的操作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修改、追蹤、提交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都是屬於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分支的存取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32065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2ECC6F-D685-C98E-30B5-7D3DB5E07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5BCF5D-A4B2-9186-1116-813DABD2A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102718"/>
            <a:ext cx="6739776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81A302-570E-8F69-D29F-087340B2D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327613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 Branch –</a:t>
            </a:r>
            <a:r>
              <a:rPr lang="zh-TW" altLang="en-US" dirty="0">
                <a:solidFill>
                  <a:srgbClr val="00B0F0"/>
                </a:solidFill>
              </a:rPr>
              <a:t>分支建立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1C5DB92-0582-16D7-37F0-97CB290530BE}"/>
              </a:ext>
            </a:extLst>
          </p:cNvPr>
          <p:cNvSpPr txBox="1"/>
          <p:nvPr/>
        </p:nvSpPr>
        <p:spPr>
          <a:xfrm>
            <a:off x="1717953" y="2625876"/>
            <a:ext cx="6359247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接下來使用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”git checkout &lt;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分支名稱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這個語法切換到其他分支節點，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67B0D1ED-EA9A-F8BA-1B32-06760E08DC72}"/>
              </a:ext>
            </a:extLst>
          </p:cNvPr>
          <p:cNvSpPr txBox="1">
            <a:spLocks/>
          </p:cNvSpPr>
          <p:nvPr/>
        </p:nvSpPr>
        <p:spPr>
          <a:xfrm>
            <a:off x="1340358" y="2289256"/>
            <a:ext cx="1917192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切換分支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DEE84BA-BDCF-4271-4C03-F90E7A4993B9}"/>
              </a:ext>
            </a:extLst>
          </p:cNvPr>
          <p:cNvSpPr txBox="1"/>
          <p:nvPr/>
        </p:nvSpPr>
        <p:spPr>
          <a:xfrm>
            <a:off x="1717953" y="3006306"/>
            <a:ext cx="8636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/d/CAI_Porject/TestFolder/LocalGit/RemoteGit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 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checkout second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6A933A0-7D7F-1672-7A08-94377180DB12}"/>
              </a:ext>
            </a:extLst>
          </p:cNvPr>
          <p:cNvSpPr txBox="1"/>
          <p:nvPr/>
        </p:nvSpPr>
        <p:spPr>
          <a:xfrm>
            <a:off x="986008" y="6447973"/>
            <a:ext cx="10614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“git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log”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查看分支狀態，可以看到有兩個分支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(master, second)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，然後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已經改成指向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second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，表示目前操作的分支是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second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。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89D7D96-13D3-A7BC-669F-91B3D21E283F}"/>
              </a:ext>
            </a:extLst>
          </p:cNvPr>
          <p:cNvSpPr txBox="1"/>
          <p:nvPr/>
        </p:nvSpPr>
        <p:spPr>
          <a:xfrm>
            <a:off x="1717953" y="4051468"/>
            <a:ext cx="6738097" cy="3456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提示訊息出現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“Switched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branch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‘second’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，表示已切換到剛才所建立的分支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second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。</a:t>
            </a:r>
            <a:endParaRPr lang="zh-TW" altLang="en-US" sz="12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44214402-4AE2-2DF7-9596-2A5D7D91C534}"/>
              </a:ext>
            </a:extLst>
          </p:cNvPr>
          <p:cNvSpPr txBox="1"/>
          <p:nvPr/>
        </p:nvSpPr>
        <p:spPr>
          <a:xfrm>
            <a:off x="9423866" y="5253959"/>
            <a:ext cx="20221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可以看見分支是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second,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表示所有的操作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修改、追蹤、提交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都是屬於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second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分支的存取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B0420315-1194-E410-3020-231149097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444" y="3484897"/>
            <a:ext cx="8115300" cy="566571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B35E2092-C8B2-3DC6-E50D-C97E7B36A824}"/>
              </a:ext>
            </a:extLst>
          </p:cNvPr>
          <p:cNvSpPr txBox="1"/>
          <p:nvPr/>
        </p:nvSpPr>
        <p:spPr>
          <a:xfrm>
            <a:off x="1717953" y="4490180"/>
            <a:ext cx="6359247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”git log”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查看分支狀態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E5FDF2FC-4D3A-F1EE-B708-E7B6144E50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6570" y="5124537"/>
            <a:ext cx="6503853" cy="1016018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32C83168-D45C-4151-C3B3-FC34A80F3885}"/>
              </a:ext>
            </a:extLst>
          </p:cNvPr>
          <p:cNvGrpSpPr/>
          <p:nvPr/>
        </p:nvGrpSpPr>
        <p:grpSpPr>
          <a:xfrm>
            <a:off x="8456050" y="4652325"/>
            <a:ext cx="789706" cy="1639422"/>
            <a:chOff x="8704044" y="1013633"/>
            <a:chExt cx="789706" cy="1639422"/>
          </a:xfrm>
        </p:grpSpPr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3AB17B45-6B16-2B34-EF07-B400C8790D13}"/>
                </a:ext>
              </a:extLst>
            </p:cNvPr>
            <p:cNvGrpSpPr/>
            <p:nvPr/>
          </p:nvGrpSpPr>
          <p:grpSpPr>
            <a:xfrm>
              <a:off x="8914242" y="1545347"/>
              <a:ext cx="378544" cy="282710"/>
              <a:chOff x="6768151" y="1518439"/>
              <a:chExt cx="378544" cy="282710"/>
            </a:xfrm>
          </p:grpSpPr>
          <p:sp>
            <p:nvSpPr>
              <p:cNvPr id="18" name="流程圖: 接點 17">
                <a:extLst>
                  <a:ext uri="{FF2B5EF4-FFF2-40B4-BE49-F238E27FC236}">
                    <a16:creationId xmlns:a16="http://schemas.microsoft.com/office/drawing/2014/main" id="{CE4AE33A-BAB1-2214-8966-ECA2E0D78E5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808644" y="1518439"/>
                <a:ext cx="282710" cy="282710"/>
              </a:xfrm>
              <a:prstGeom prst="flowChartConnector">
                <a:avLst/>
              </a:prstGeom>
              <a:noFill/>
              <a:ln w="2222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TW" altLang="en-US" sz="1200" dirty="0"/>
              </a:p>
            </p:txBody>
          </p:sp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8114B100-596F-DEC1-2160-66A835779727}"/>
                  </a:ext>
                </a:extLst>
              </p:cNvPr>
              <p:cNvSpPr txBox="1"/>
              <p:nvPr/>
            </p:nvSpPr>
            <p:spPr>
              <a:xfrm>
                <a:off x="6768151" y="1523768"/>
                <a:ext cx="37854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200" b="1" dirty="0">
                    <a:solidFill>
                      <a:srgbClr val="00FF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C1</a:t>
                </a:r>
              </a:p>
            </p:txBody>
          </p:sp>
        </p:grpSp>
        <p:sp>
          <p:nvSpPr>
            <p:cNvPr id="21" name="圖說文字: 向下箭號 20">
              <a:extLst>
                <a:ext uri="{FF2B5EF4-FFF2-40B4-BE49-F238E27FC236}">
                  <a16:creationId xmlns:a16="http://schemas.microsoft.com/office/drawing/2014/main" id="{603C8F80-3B42-44A8-F268-12DC07475C0A}"/>
                </a:ext>
              </a:extLst>
            </p:cNvPr>
            <p:cNvSpPr/>
            <p:nvPr/>
          </p:nvSpPr>
          <p:spPr>
            <a:xfrm>
              <a:off x="8704044" y="1013633"/>
              <a:ext cx="780473" cy="491806"/>
            </a:xfrm>
            <a:prstGeom prst="downArrowCallout">
              <a:avLst/>
            </a:prstGeom>
            <a:noFill/>
            <a:ln w="2540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altLang="zh-TW" sz="1200" b="1" dirty="0">
                  <a:solidFill>
                    <a:srgbClr val="00FF00"/>
                  </a:solidFill>
                </a:rPr>
                <a:t>master</a:t>
              </a:r>
              <a:endParaRPr lang="zh-TW" altLang="en-US" sz="1200" b="1" dirty="0">
                <a:solidFill>
                  <a:srgbClr val="00FF00"/>
                </a:solidFill>
              </a:endParaRPr>
            </a:p>
          </p:txBody>
        </p:sp>
        <p:sp>
          <p:nvSpPr>
            <p:cNvPr id="23" name="圖說文字: 向上箭號 22">
              <a:extLst>
                <a:ext uri="{FF2B5EF4-FFF2-40B4-BE49-F238E27FC236}">
                  <a16:creationId xmlns:a16="http://schemas.microsoft.com/office/drawing/2014/main" id="{2740B8D1-B588-AA43-ABEF-8D769D0D58D5}"/>
                </a:ext>
              </a:extLst>
            </p:cNvPr>
            <p:cNvSpPr/>
            <p:nvPr/>
          </p:nvSpPr>
          <p:spPr>
            <a:xfrm>
              <a:off x="8713277" y="1855118"/>
              <a:ext cx="780473" cy="491806"/>
            </a:xfrm>
            <a:prstGeom prst="upArrowCallout">
              <a:avLst>
                <a:gd name="adj1" fmla="val 25000"/>
                <a:gd name="adj2" fmla="val 25000"/>
                <a:gd name="adj3" fmla="val 25000"/>
                <a:gd name="adj4" fmla="val 64542"/>
              </a:avLst>
            </a:prstGeom>
            <a:noFill/>
            <a:ln w="25400">
              <a:solidFill>
                <a:schemeClr val="accent6"/>
              </a:solidFill>
              <a:round/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b="1" dirty="0">
                  <a:solidFill>
                    <a:srgbClr val="00FF00"/>
                  </a:solidFill>
                </a:rPr>
                <a:t>second</a:t>
              </a:r>
              <a:endParaRPr lang="zh-TW" altLang="en-US" sz="1200" b="1" dirty="0">
                <a:solidFill>
                  <a:srgbClr val="00FF00"/>
                </a:solidFill>
              </a:endParaRPr>
            </a:p>
          </p:txBody>
        </p:sp>
        <p:sp>
          <p:nvSpPr>
            <p:cNvPr id="17" name="圖說文字: 向上箭號 16">
              <a:extLst>
                <a:ext uri="{FF2B5EF4-FFF2-40B4-BE49-F238E27FC236}">
                  <a16:creationId xmlns:a16="http://schemas.microsoft.com/office/drawing/2014/main" id="{DA262601-C815-1C5C-BEB9-E2141AB97240}"/>
                </a:ext>
              </a:extLst>
            </p:cNvPr>
            <p:cNvSpPr/>
            <p:nvPr/>
          </p:nvSpPr>
          <p:spPr>
            <a:xfrm>
              <a:off x="8713277" y="2369075"/>
              <a:ext cx="780473" cy="283980"/>
            </a:xfrm>
            <a:prstGeom prst="upArrowCallout">
              <a:avLst>
                <a:gd name="adj1" fmla="val 38416"/>
                <a:gd name="adj2" fmla="val 40093"/>
                <a:gd name="adj3" fmla="val 25000"/>
                <a:gd name="adj4" fmla="val 64542"/>
              </a:avLst>
            </a:prstGeom>
            <a:noFill/>
            <a:ln w="12700">
              <a:solidFill>
                <a:srgbClr val="0070C0"/>
              </a:solidFill>
              <a:round/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00" b="1" dirty="0">
                  <a:solidFill>
                    <a:srgbClr val="00B0F0"/>
                  </a:solidFill>
                </a:rPr>
                <a:t>HEAD</a:t>
              </a:r>
              <a:endParaRPr lang="zh-TW" altLang="en-US" sz="1000" b="1" dirty="0">
                <a:solidFill>
                  <a:srgbClr val="00B0F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42900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27F66A-8F90-C156-72D6-EC28E462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CFD3D3-CDD1-3C8A-7406-B03AD6CCF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79A261-2512-D8FE-B21D-33C1B31A55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5496127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 Branch –</a:t>
            </a:r>
            <a:r>
              <a:rPr lang="zh-TW" altLang="en-US" dirty="0">
                <a:solidFill>
                  <a:srgbClr val="00B0F0"/>
                </a:solidFill>
              </a:rPr>
              <a:t>各個分支的推送與拉取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5A31A015-9EE2-C9EA-24B4-BEBB85ADFBDB}"/>
              </a:ext>
            </a:extLst>
          </p:cNvPr>
          <p:cNvSpPr txBox="1"/>
          <p:nvPr/>
        </p:nvSpPr>
        <p:spPr>
          <a:xfrm>
            <a:off x="1717953" y="2625876"/>
            <a:ext cx="9416211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切換到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分支，並建立一個新的檔案並編寫資料數據，進行追蹤、提交與推送到遠端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分支的動作。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C9F78970-488C-38C9-D0A6-6D82F84A9E1B}"/>
              </a:ext>
            </a:extLst>
          </p:cNvPr>
          <p:cNvSpPr txBox="1">
            <a:spLocks/>
          </p:cNvSpPr>
          <p:nvPr/>
        </p:nvSpPr>
        <p:spPr>
          <a:xfrm>
            <a:off x="1340358" y="2289256"/>
            <a:ext cx="2797533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在</a:t>
            </a:r>
            <a:r>
              <a:rPr lang="en-US" altLang="zh-TW" sz="1600" dirty="0">
                <a:solidFill>
                  <a:schemeClr val="bg1"/>
                </a:solidFill>
              </a:rPr>
              <a:t>master</a:t>
            </a:r>
            <a:r>
              <a:rPr lang="zh-TW" altLang="en-US" sz="1600" dirty="0">
                <a:solidFill>
                  <a:schemeClr val="bg1"/>
                </a:solidFill>
              </a:rPr>
              <a:t>分支進行提交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C68AC79-9950-32C6-3458-68269D496452}"/>
              </a:ext>
            </a:extLst>
          </p:cNvPr>
          <p:cNvSpPr txBox="1"/>
          <p:nvPr/>
        </p:nvSpPr>
        <p:spPr>
          <a:xfrm>
            <a:off x="1717953" y="3077649"/>
            <a:ext cx="8636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/d/CAI_Porject/TestFolder/LocalGit/RemoteGit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 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push d:/CAI_Porject/TestFolder/RemoteGit.git master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881D0A8-3A3C-3140-2665-A834132D7577}"/>
              </a:ext>
            </a:extLst>
          </p:cNvPr>
          <p:cNvSpPr txBox="1"/>
          <p:nvPr/>
        </p:nvSpPr>
        <p:spPr>
          <a:xfrm>
            <a:off x="4863075" y="5996884"/>
            <a:ext cx="4844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開啟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file.txt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查看內容，是剛才所編寫的資料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zh-TW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 file is ‘MASTER’ branch test data file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。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B7B1144-F9F9-7134-3421-73DB37D75B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773" y="3675044"/>
            <a:ext cx="7676010" cy="1772604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4BBCF246-BB1E-8470-5CEC-BB4FEB2E6C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3773" y="5583378"/>
            <a:ext cx="2423102" cy="104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19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1EB439-9001-0FE9-ED54-DFB66F92A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61BD07-0145-0271-85F4-8BB1F15A8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ED2BE2A-3EC0-F39C-DD22-1666900D8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5496127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 Branch –</a:t>
            </a:r>
            <a:r>
              <a:rPr lang="zh-TW" altLang="en-US" dirty="0">
                <a:solidFill>
                  <a:srgbClr val="00B0F0"/>
                </a:solidFill>
              </a:rPr>
              <a:t>各個分支的推送與拉取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876F783-AB5E-0697-8A4A-C73748A23996}"/>
              </a:ext>
            </a:extLst>
          </p:cNvPr>
          <p:cNvSpPr txBox="1"/>
          <p:nvPr/>
        </p:nvSpPr>
        <p:spPr>
          <a:xfrm>
            <a:off x="1717953" y="2625876"/>
            <a:ext cx="10002992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切換到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second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分支，然後將遠端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的儲存庫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Pull(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拉取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下來，所拉取的內容就是剛才從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分支所推送的內容。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206CEE4C-FB4A-6701-0190-A70ECB7132C9}"/>
              </a:ext>
            </a:extLst>
          </p:cNvPr>
          <p:cNvSpPr txBox="1">
            <a:spLocks/>
          </p:cNvSpPr>
          <p:nvPr/>
        </p:nvSpPr>
        <p:spPr>
          <a:xfrm>
            <a:off x="1340358" y="2289256"/>
            <a:ext cx="2797533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在</a:t>
            </a:r>
            <a:r>
              <a:rPr lang="en-US" altLang="zh-TW" sz="1600" dirty="0">
                <a:solidFill>
                  <a:schemeClr val="bg1"/>
                </a:solidFill>
              </a:rPr>
              <a:t>second</a:t>
            </a:r>
            <a:r>
              <a:rPr lang="zh-TW" altLang="en-US" sz="1600" dirty="0">
                <a:solidFill>
                  <a:schemeClr val="bg1"/>
                </a:solidFill>
              </a:rPr>
              <a:t>分支進行提交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B39F5A2-21A8-2154-854A-4A8F123F0C7A}"/>
              </a:ext>
            </a:extLst>
          </p:cNvPr>
          <p:cNvSpPr txBox="1"/>
          <p:nvPr/>
        </p:nvSpPr>
        <p:spPr>
          <a:xfrm>
            <a:off x="1717953" y="3077649"/>
            <a:ext cx="10206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/d/CAI_Porject/TestFolder/LocalGit/RemoteGit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(second) 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pull d:/CAI_Porject/TestFolder/RemoteGit.git master:second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表示從遠端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分支拉取到本地端的新分支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'second'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5E83A8-0126-AED5-5435-7807A2E44FF8}"/>
              </a:ext>
            </a:extLst>
          </p:cNvPr>
          <p:cNvSpPr txBox="1"/>
          <p:nvPr/>
        </p:nvSpPr>
        <p:spPr>
          <a:xfrm>
            <a:off x="1717953" y="3723980"/>
            <a:ext cx="10002992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拉取下來後，編輯檔案，讓檔案內容與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分支的內容不同，用以區分拉取的分支，修改完後，再推送到遠端的新分支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second(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遠端若沒有新分支，則推送時會自動建立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。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0C8BDFD-2ABB-9C84-B028-A0AEE26A667D}"/>
              </a:ext>
            </a:extLst>
          </p:cNvPr>
          <p:cNvSpPr txBox="1"/>
          <p:nvPr/>
        </p:nvSpPr>
        <p:spPr>
          <a:xfrm>
            <a:off x="1717953" y="4414966"/>
            <a:ext cx="10206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/d/CAI_Porject/TestFolder/LocalGit/RemoteGit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(second) 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push d:/CAI_Porject/TestFolder/RemoteGit.git second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表示從本地端的新分支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‘second’</a:t>
            </a:r>
            <a:r>
              <a:rPr lang="zh-TW" altLang="en-US" sz="12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推送到遠端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second</a:t>
            </a:r>
            <a:r>
              <a:rPr lang="zh-TW" altLang="en-US" sz="120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分支。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2417F846-7B91-46E3-CC17-079301BA0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8277" y="5073590"/>
            <a:ext cx="7211994" cy="1604301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F5BE90B8-D69A-A97F-43D6-E528B8C9E3C2}"/>
              </a:ext>
            </a:extLst>
          </p:cNvPr>
          <p:cNvSpPr txBox="1"/>
          <p:nvPr/>
        </p:nvSpPr>
        <p:spPr>
          <a:xfrm>
            <a:off x="6293224" y="6428600"/>
            <a:ext cx="30355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遠端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自動建立一個新分支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-‘second’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箭號: 向右 14">
            <a:extLst>
              <a:ext uri="{FF2B5EF4-FFF2-40B4-BE49-F238E27FC236}">
                <a16:creationId xmlns:a16="http://schemas.microsoft.com/office/drawing/2014/main" id="{57C4BEC0-5A34-8EB9-769E-8C1DB501C64D}"/>
              </a:ext>
            </a:extLst>
          </p:cNvPr>
          <p:cNvSpPr/>
          <p:nvPr/>
        </p:nvSpPr>
        <p:spPr>
          <a:xfrm rot="10800000">
            <a:off x="5107709" y="6520874"/>
            <a:ext cx="1117600" cy="110836"/>
          </a:xfrm>
          <a:prstGeom prst="rightArrow">
            <a:avLst/>
          </a:prstGeom>
          <a:solidFill>
            <a:schemeClr val="accent5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72544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95165D-BBFE-B968-8812-5920135BB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Git Test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3B52210-FB3E-3961-061E-A7E9C7B3D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For commit, merge, pull and </a:t>
            </a:r>
            <a:r>
              <a:rPr lang="en-US" altLang="zh-TW"/>
              <a:t>push test.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5019278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視圖</Template>
  <TotalTime>1114</TotalTime>
  <Words>2792</Words>
  <Application>Microsoft Office PowerPoint</Application>
  <PresentationFormat>寬螢幕</PresentationFormat>
  <Paragraphs>199</Paragraphs>
  <Slides>22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22</vt:i4>
      </vt:variant>
    </vt:vector>
  </HeadingPairs>
  <TitlesOfParts>
    <vt:vector size="27" baseType="lpstr">
      <vt:lpstr>Arial</vt:lpstr>
      <vt:lpstr>Courier New</vt:lpstr>
      <vt:lpstr>Grandview Display</vt:lpstr>
      <vt:lpstr>Wingdings</vt:lpstr>
      <vt:lpstr>DashVTI</vt:lpstr>
      <vt:lpstr>Git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Test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Conserve_Lic3</dc:creator>
  <cp:lastModifiedBy>登傑 許</cp:lastModifiedBy>
  <cp:revision>20</cp:revision>
  <dcterms:created xsi:type="dcterms:W3CDTF">2025-11-13T07:35:53Z</dcterms:created>
  <dcterms:modified xsi:type="dcterms:W3CDTF">2025-11-24T02:45:33Z</dcterms:modified>
</cp:coreProperties>
</file>