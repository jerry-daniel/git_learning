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33CCC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72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39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40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730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12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67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207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354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957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5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7185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59079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8">
            <a:extLst>
              <a:ext uri="{FF2B5EF4-FFF2-40B4-BE49-F238E27FC236}">
                <a16:creationId xmlns:a16="http://schemas.microsoft.com/office/drawing/2014/main" id="{46B9231A-B34B-4A29-A6AC-532E1EE81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3">
            <a:extLst>
              <a:ext uri="{FF2B5EF4-FFF2-40B4-BE49-F238E27FC236}">
                <a16:creationId xmlns:a16="http://schemas.microsoft.com/office/drawing/2014/main" id="{C4F5370D-7FB6-A4A6-0375-5FF2E386D4C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2"/>
          <a:stretch>
            <a:fillRect/>
          </a:stretch>
        </p:blipFill>
        <p:spPr>
          <a:xfrm>
            <a:off x="20" y="152"/>
            <a:ext cx="12191980" cy="685784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91D5913C-CA18-F77F-081C-A94DDF935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r>
              <a:rPr lang="en-US" altLang="zh-TW" sz="6000">
                <a:solidFill>
                  <a:srgbClr val="FFFFFF"/>
                </a:solidFill>
              </a:rPr>
              <a:t>Git</a:t>
            </a:r>
            <a:endParaRPr lang="zh-TW" altLang="en-US" sz="6000">
              <a:solidFill>
                <a:srgbClr val="FFFFFF"/>
              </a:solidFill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41BBABE-96ED-9DFE-B86A-FE94BCB72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6119308" cy="1104721"/>
          </a:xfrm>
        </p:spPr>
        <p:txBody>
          <a:bodyPr anchor="t">
            <a:normAutofit/>
          </a:bodyPr>
          <a:lstStyle/>
          <a:p>
            <a:r>
              <a:rPr lang="en-US" altLang="zh-TW" dirty="0">
                <a:solidFill>
                  <a:srgbClr val="FFFFFF"/>
                </a:solidFill>
              </a:rPr>
              <a:t>GIT </a:t>
            </a:r>
            <a:r>
              <a:rPr lang="zh-TW" altLang="en-US" dirty="0">
                <a:solidFill>
                  <a:srgbClr val="FFFFFF"/>
                </a:solidFill>
              </a:rPr>
              <a:t>版本控管使用</a:t>
            </a:r>
            <a:r>
              <a:rPr lang="en-US" altLang="zh-TW" dirty="0">
                <a:solidFill>
                  <a:srgbClr val="FFFFFF"/>
                </a:solidFill>
              </a:rPr>
              <a:t>GIT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BASH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COMMAND</a:t>
            </a:r>
            <a:r>
              <a:rPr lang="zh-TW" altLang="en-US" dirty="0">
                <a:solidFill>
                  <a:srgbClr val="FFFFFF"/>
                </a:solidFill>
              </a:rPr>
              <a:t> </a:t>
            </a:r>
            <a:r>
              <a:rPr lang="en-US" altLang="zh-TW" dirty="0">
                <a:solidFill>
                  <a:srgbClr val="FFFFFF"/>
                </a:solidFill>
              </a:rPr>
              <a:t>LINE</a:t>
            </a:r>
          </a:p>
          <a:p>
            <a:r>
              <a:rPr lang="en-US" altLang="zh-TW" dirty="0">
                <a:solidFill>
                  <a:srgbClr val="FFFFFF"/>
                </a:solidFill>
              </a:rPr>
              <a:t>GitHub</a:t>
            </a:r>
            <a:endParaRPr lang="zh-TW" altLang="en-US" dirty="0">
              <a:solidFill>
                <a:srgbClr val="FFFFFF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95436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64711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319E0B-CE52-5BD1-E3E7-765C35AA9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F5BB14-CB00-FB25-B911-203A52C54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8" y="2122664"/>
            <a:ext cx="8439266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初次安裝完成後可透過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Bash</a:t>
            </a:r>
            <a:r>
              <a:rPr lang="zh-TW" altLang="en-US" dirty="0">
                <a:solidFill>
                  <a:srgbClr val="00B0F0"/>
                </a:solidFill>
              </a:rPr>
              <a:t>輸入指令查看初始的設定參數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FBCA4F5-E5BB-3189-07AB-217E3BC6A781}"/>
              </a:ext>
            </a:extLst>
          </p:cNvPr>
          <p:cNvSpPr txBox="1"/>
          <p:nvPr/>
        </p:nvSpPr>
        <p:spPr>
          <a:xfrm>
            <a:off x="1717955" y="3824497"/>
            <a:ext cx="45986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––list ––show—origin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D444E1D1-AFAD-CB4A-F777-381A4CD925C5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查看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所有設定與來源命令</a:t>
            </a:r>
            <a:r>
              <a:rPr lang="en-US" altLang="zh-TW" sz="1800" dirty="0">
                <a:solidFill>
                  <a:schemeClr val="bg1"/>
                </a:solidFill>
              </a:rPr>
              <a:t>(</a:t>
            </a:r>
            <a:r>
              <a:rPr lang="zh-TW" altLang="en-US" sz="1800" dirty="0">
                <a:solidFill>
                  <a:schemeClr val="bg1"/>
                </a:solidFill>
              </a:rPr>
              <a:t>顯示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的設定值及設定值所在的文件來源位置</a:t>
            </a:r>
            <a:r>
              <a:rPr lang="en-US" altLang="zh-TW" sz="1800" dirty="0">
                <a:solidFill>
                  <a:schemeClr val="bg1"/>
                </a:solidFill>
              </a:rPr>
              <a:t>)</a:t>
            </a:r>
            <a:endParaRPr lang="zh-TW" altLang="en-US" sz="1800" dirty="0">
              <a:solidFill>
                <a:schemeClr val="bg1"/>
              </a:solidFill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45676DA1-17B6-2797-918C-06A37D64808C}"/>
              </a:ext>
            </a:extLst>
          </p:cNvPr>
          <p:cNvSpPr txBox="1">
            <a:spLocks/>
          </p:cNvSpPr>
          <p:nvPr/>
        </p:nvSpPr>
        <p:spPr>
          <a:xfrm>
            <a:off x="1340359" y="4684263"/>
            <a:ext cx="6907714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查看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所有設定命令</a:t>
            </a:r>
            <a:r>
              <a:rPr lang="en-US" altLang="zh-TW" sz="1800" dirty="0">
                <a:solidFill>
                  <a:schemeClr val="bg1"/>
                </a:solidFill>
              </a:rPr>
              <a:t>(</a:t>
            </a:r>
            <a:r>
              <a:rPr lang="zh-TW" altLang="en-US" sz="1800" dirty="0">
                <a:solidFill>
                  <a:schemeClr val="bg1"/>
                </a:solidFill>
              </a:rPr>
              <a:t>僅顯示當前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使用者的設定值</a:t>
            </a:r>
            <a:r>
              <a:rPr lang="en-US" altLang="zh-TW" sz="1800" dirty="0">
                <a:solidFill>
                  <a:schemeClr val="bg1"/>
                </a:solidFill>
              </a:rPr>
              <a:t>)</a:t>
            </a:r>
            <a:endParaRPr lang="zh-TW" altLang="en-US" sz="1800" dirty="0">
              <a:solidFill>
                <a:schemeClr val="bg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AD653F4-6C55-8C9B-A60D-C8EACCCAF416}"/>
              </a:ext>
            </a:extLst>
          </p:cNvPr>
          <p:cNvSpPr txBox="1"/>
          <p:nvPr/>
        </p:nvSpPr>
        <p:spPr>
          <a:xfrm>
            <a:off x="1717955" y="5548282"/>
            <a:ext cx="31392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––list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7229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BE221-7B0B-76A5-1CA9-7D0574E07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E1611C-FEAE-4DE2-182D-F678E5D03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4120D05-E4DF-E312-86C5-DD627B68E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8" y="2122664"/>
            <a:ext cx="8439266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初次安裝完成後修改使用者名稱及使用者電子郵件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D902992-3FA2-34AD-F14B-6334A4347363}"/>
              </a:ext>
            </a:extLst>
          </p:cNvPr>
          <p:cNvSpPr txBox="1"/>
          <p:nvPr/>
        </p:nvSpPr>
        <p:spPr>
          <a:xfrm>
            <a:off x="1717955" y="3824497"/>
            <a:ext cx="57586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user.name “Daniel Hsu”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B1D196B0-AF67-1254-11D8-36D27C59D265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修改使用者名稱</a:t>
            </a: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05C2B58A-D70C-1039-BCB3-965D3FA8A180}"/>
              </a:ext>
            </a:extLst>
          </p:cNvPr>
          <p:cNvSpPr txBox="1">
            <a:spLocks/>
          </p:cNvSpPr>
          <p:nvPr/>
        </p:nvSpPr>
        <p:spPr>
          <a:xfrm>
            <a:off x="1340359" y="4684263"/>
            <a:ext cx="6907714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修改使用者電子郵件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E47EF3E-7197-4F20-82EF-E63693FCCC12}"/>
              </a:ext>
            </a:extLst>
          </p:cNvPr>
          <p:cNvSpPr txBox="1"/>
          <p:nvPr/>
        </p:nvSpPr>
        <p:spPr>
          <a:xfrm>
            <a:off x="1717955" y="5548282"/>
            <a:ext cx="83135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user.email tengchiehhsu@gmail.com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381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DA797D-CF8E-8C27-4BC9-C8C5F2971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222447-6303-2A51-5074-1A424BFC2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23237"/>
            <a:ext cx="10890929" cy="1097280"/>
          </a:xfrm>
        </p:spPr>
        <p:txBody>
          <a:bodyPr anchor="ctr" anchorCtr="0"/>
          <a:lstStyle/>
          <a:p>
            <a:r>
              <a:rPr lang="en-US" altLang="zh-TW" dirty="0">
                <a:solidFill>
                  <a:srgbClr val="FFC000"/>
                </a:solidFill>
              </a:rPr>
              <a:t>Git Bash – Command Line</a:t>
            </a:r>
            <a:endParaRPr lang="zh-TW" altLang="en-US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9E5ACE2-EC53-E7DB-2542-5C91DEAA9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2122664"/>
            <a:ext cx="10821161" cy="692434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初次安裝完成後設定每次新建倉庫</a:t>
            </a:r>
            <a:r>
              <a:rPr lang="en-US" altLang="zh-TW" dirty="0">
                <a:solidFill>
                  <a:srgbClr val="00B0F0"/>
                </a:solidFill>
              </a:rPr>
              <a:t>(Repository)</a:t>
            </a:r>
            <a:r>
              <a:rPr lang="zh-TW" altLang="en-US" dirty="0">
                <a:solidFill>
                  <a:srgbClr val="00B0F0"/>
                </a:solidFill>
              </a:rPr>
              <a:t>時的分支</a:t>
            </a:r>
            <a:r>
              <a:rPr lang="en-US" altLang="zh-TW" dirty="0">
                <a:solidFill>
                  <a:srgbClr val="00B0F0"/>
                </a:solidFill>
              </a:rPr>
              <a:t>(Branch)</a:t>
            </a:r>
            <a:r>
              <a:rPr lang="zh-TW" altLang="en-US" dirty="0">
                <a:solidFill>
                  <a:srgbClr val="00B0F0"/>
                </a:solidFill>
              </a:rPr>
              <a:t>名稱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8D0028D1-76B2-FC4A-78B3-F77EA285B79B}"/>
              </a:ext>
            </a:extLst>
          </p:cNvPr>
          <p:cNvSpPr txBox="1"/>
          <p:nvPr/>
        </p:nvSpPr>
        <p:spPr>
          <a:xfrm>
            <a:off x="1717955" y="3824497"/>
            <a:ext cx="69077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define repository name: </a:t>
            </a:r>
            <a:r>
              <a:rPr lang="en-US" altLang="zh-TW" sz="16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init.defaultbranch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=master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7A909361-0F71-FA0D-18D3-6B12E7339139}"/>
              </a:ext>
            </a:extLst>
          </p:cNvPr>
          <p:cNvSpPr txBox="1">
            <a:spLocks/>
          </p:cNvSpPr>
          <p:nvPr/>
        </p:nvSpPr>
        <p:spPr>
          <a:xfrm>
            <a:off x="1340359" y="2986683"/>
            <a:ext cx="8662622" cy="692434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800" dirty="0">
                <a:solidFill>
                  <a:schemeClr val="bg1"/>
                </a:solidFill>
              </a:rPr>
              <a:t>修改新建</a:t>
            </a:r>
            <a:r>
              <a:rPr lang="en-US" altLang="zh-TW" sz="1800" dirty="0">
                <a:solidFill>
                  <a:schemeClr val="bg1"/>
                </a:solidFill>
              </a:rPr>
              <a:t>Git</a:t>
            </a:r>
            <a:r>
              <a:rPr lang="zh-TW" altLang="en-US" sz="1800" dirty="0">
                <a:solidFill>
                  <a:schemeClr val="bg1"/>
                </a:solidFill>
              </a:rPr>
              <a:t> </a:t>
            </a:r>
            <a:r>
              <a:rPr lang="en-US" altLang="zh-TW" sz="1800" dirty="0">
                <a:solidFill>
                  <a:schemeClr val="bg1"/>
                </a:solidFill>
              </a:rPr>
              <a:t>Repository</a:t>
            </a:r>
            <a:r>
              <a:rPr lang="zh-TW" altLang="en-US" sz="1800" dirty="0">
                <a:solidFill>
                  <a:schemeClr val="bg1"/>
                </a:solidFill>
              </a:rPr>
              <a:t>分支名稱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B08631E-5FF5-9159-62A0-8A39B78E220F}"/>
              </a:ext>
            </a:extLst>
          </p:cNvPr>
          <p:cNvSpPr txBox="1"/>
          <p:nvPr/>
        </p:nvSpPr>
        <p:spPr>
          <a:xfrm>
            <a:off x="1717955" y="4334636"/>
            <a:ext cx="72736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config ––global </a:t>
            </a:r>
            <a:r>
              <a:rPr lang="en-US" altLang="zh-TW" sz="1600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init.defaultbranch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&lt;branch name&gt; </a:t>
            </a:r>
            <a:endParaRPr lang="zh-TW" altLang="en-US" sz="16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F03A98-A601-9278-A8D5-0BF7FF5875E6}"/>
              </a:ext>
            </a:extLst>
          </p:cNvPr>
          <p:cNvSpPr txBox="1"/>
          <p:nvPr/>
        </p:nvSpPr>
        <p:spPr>
          <a:xfrm>
            <a:off x="254805" y="6333766"/>
            <a:ext cx="86626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※</a:t>
            </a:r>
            <a:r>
              <a:rPr lang="en-US" altLang="zh-TW" sz="16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預設的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，若要使用預設值則不用重新定義。</a:t>
            </a:r>
            <a:r>
              <a:rPr lang="en-US" altLang="zh-TW" sz="16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6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32237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DA87A6-6BBB-014B-A9C4-7ED4DB9A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576B43-CB30-D01A-B5B1-7235D4B07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4B19A5-8D3B-9825-22A4-9754C7C61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00CB671-A28F-8FB7-B900-D6E740BF4B42}"/>
              </a:ext>
            </a:extLst>
          </p:cNvPr>
          <p:cNvSpPr txBox="1"/>
          <p:nvPr/>
        </p:nvSpPr>
        <p:spPr>
          <a:xfrm>
            <a:off x="1717954" y="2747130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首先在當前的路徑下新增一個要進行版控的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指令查看當前路徑，或是切換到想要建立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218AF644-58BF-CC74-BA36-57F7D56ED231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866262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建立新的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AAA2BEA-7482-213A-91B7-9121C8E0633C}"/>
              </a:ext>
            </a:extLst>
          </p:cNvPr>
          <p:cNvSpPr txBox="1"/>
          <p:nvPr/>
        </p:nvSpPr>
        <p:spPr>
          <a:xfrm>
            <a:off x="2034847" y="3566933"/>
            <a:ext cx="61409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cd d:/CAI_Project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切換到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D:/CAI_Project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DEC97E7-B73C-8160-B454-DEA5021C5391}"/>
              </a:ext>
            </a:extLst>
          </p:cNvPr>
          <p:cNvSpPr txBox="1"/>
          <p:nvPr/>
        </p:nvSpPr>
        <p:spPr>
          <a:xfrm>
            <a:off x="1717954" y="3905487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切換後，在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之前會顯示目前所在的路徑，如下：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C34DB80-E9A7-9113-2D51-5B4C4F7EB519}"/>
              </a:ext>
            </a:extLst>
          </p:cNvPr>
          <p:cNvSpPr txBox="1"/>
          <p:nvPr/>
        </p:nvSpPr>
        <p:spPr>
          <a:xfrm>
            <a:off x="2196212" y="4362015"/>
            <a:ext cx="7273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F2F76F4-9BF8-D671-6BB9-4D3E424D1B52}"/>
              </a:ext>
            </a:extLst>
          </p:cNvPr>
          <p:cNvSpPr txBox="1"/>
          <p:nvPr/>
        </p:nvSpPr>
        <p:spPr>
          <a:xfrm>
            <a:off x="2034847" y="5029242"/>
            <a:ext cx="53103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mkdir NewGitRepository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倉庫名稱可自行定義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 NewGitRepository</a:t>
            </a:r>
            <a:endParaRPr lang="zh-TW" altLang="en-US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FEB5CB1-1543-767D-1BC2-8C5BED4DD824}"/>
              </a:ext>
            </a:extLst>
          </p:cNvPr>
          <p:cNvSpPr txBox="1"/>
          <p:nvPr/>
        </p:nvSpPr>
        <p:spPr>
          <a:xfrm>
            <a:off x="1717954" y="5431816"/>
            <a:ext cx="5310375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切換目錄後，所在的目錄路徑如下：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5721289-3BCC-5498-9364-A4499EB0097E}"/>
              </a:ext>
            </a:extLst>
          </p:cNvPr>
          <p:cNvSpPr txBox="1"/>
          <p:nvPr/>
        </p:nvSpPr>
        <p:spPr>
          <a:xfrm>
            <a:off x="2034847" y="5893481"/>
            <a:ext cx="8830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/d/CAI_Project/NewGitRepository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A152E4C-E262-D4CD-462B-1DA75E8DE596}"/>
              </a:ext>
            </a:extLst>
          </p:cNvPr>
          <p:cNvSpPr txBox="1"/>
          <p:nvPr/>
        </p:nvSpPr>
        <p:spPr>
          <a:xfrm>
            <a:off x="1717954" y="4610996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，並切換到新建立的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路經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242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B831A2-780B-DFCB-D373-C39009015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F78E74D-09C7-FBAA-8E81-AA59913D1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1812F4-CDAA-CB06-0D7F-871B478974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0329278C-5F64-B2FD-6568-402D5E263990}"/>
              </a:ext>
            </a:extLst>
          </p:cNvPr>
          <p:cNvSpPr txBox="1"/>
          <p:nvPr/>
        </p:nvSpPr>
        <p:spPr>
          <a:xfrm>
            <a:off x="1717954" y="2747130"/>
            <a:ext cx="92817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指令查看當前路徑，確認路徑是剛才建立的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目錄後接著下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進行倉庫初始化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E1B8AE2B-5B38-7960-D378-78A6ECF2BA8F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866262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初始化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D352081-1CA8-99B6-A60E-087356F9E9AA}"/>
              </a:ext>
            </a:extLst>
          </p:cNvPr>
          <p:cNvSpPr txBox="1"/>
          <p:nvPr/>
        </p:nvSpPr>
        <p:spPr>
          <a:xfrm>
            <a:off x="2034847" y="3175640"/>
            <a:ext cx="3783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init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初始化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1921340-7264-2AE2-7946-759375CDCADC}"/>
              </a:ext>
            </a:extLst>
          </p:cNvPr>
          <p:cNvSpPr txBox="1"/>
          <p:nvPr/>
        </p:nvSpPr>
        <p:spPr>
          <a:xfrm>
            <a:off x="2034847" y="5925949"/>
            <a:ext cx="7790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/d/CAI_Project/NewGitRepository</a:t>
            </a:r>
            <a:r>
              <a:rPr lang="zh-TW" altLang="en-US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952615F-3D36-2337-5EE0-6066F8258048}"/>
              </a:ext>
            </a:extLst>
          </p:cNvPr>
          <p:cNvSpPr txBox="1"/>
          <p:nvPr/>
        </p:nvSpPr>
        <p:spPr>
          <a:xfrm>
            <a:off x="1717954" y="5137582"/>
            <a:ext cx="9813054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初始化完成後，命令列路徑提示字串最後會顯示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“master”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，這是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預設的初始分支名稱，表示為版控的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『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主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』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版本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00C47F96-AF0D-D03F-099A-577CC96CC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8962" y="3700778"/>
            <a:ext cx="2028825" cy="876300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6D31D7E3-1F0C-0BDC-C124-E3D5D36BBC99}"/>
              </a:ext>
            </a:extLst>
          </p:cNvPr>
          <p:cNvSpPr txBox="1"/>
          <p:nvPr/>
        </p:nvSpPr>
        <p:spPr>
          <a:xfrm>
            <a:off x="5671670" y="4108090"/>
            <a:ext cx="45630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初始化完成後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目錄中會出現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的資料夾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隱藏檔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31574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EAE79C-5D44-A23C-B7EE-9E96464F0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B3281E-F36E-73EC-7324-D18EDA72F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39F662-30D5-300B-A183-1405EC1D2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在新的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建立檔案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1ED9965-7A6C-3699-436F-161E72E40F31}"/>
              </a:ext>
            </a:extLst>
          </p:cNvPr>
          <p:cNvSpPr txBox="1"/>
          <p:nvPr/>
        </p:nvSpPr>
        <p:spPr>
          <a:xfrm>
            <a:off x="1717954" y="2747130"/>
            <a:ext cx="8851434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98748C2C-30D0-78F2-F8F7-053B77EC740B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319578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建立檔案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77865B6-1691-10A5-AA96-36446E960DEC}"/>
              </a:ext>
            </a:extLst>
          </p:cNvPr>
          <p:cNvSpPr txBox="1"/>
          <p:nvPr/>
        </p:nvSpPr>
        <p:spPr>
          <a:xfrm>
            <a:off x="8636035" y="3865801"/>
            <a:ext cx="3147874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因為初始化後的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目錄是空的，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所以會提示要使用者新增檔案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C8D2AF8-FDFA-3CF3-31FB-7DB577E0E97A}"/>
              </a:ext>
            </a:extLst>
          </p:cNvPr>
          <p:cNvSpPr txBox="1"/>
          <p:nvPr/>
        </p:nvSpPr>
        <p:spPr>
          <a:xfrm>
            <a:off x="2034847" y="5226362"/>
            <a:ext cx="45900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 “This is new test file” &gt; test_file.txt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519C9C6-41B2-1878-39DD-D077FB115472}"/>
              </a:ext>
            </a:extLst>
          </p:cNvPr>
          <p:cNvSpPr txBox="1"/>
          <p:nvPr/>
        </p:nvSpPr>
        <p:spPr>
          <a:xfrm>
            <a:off x="1717954" y="4715184"/>
            <a:ext cx="5050399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“echo”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指令來新增檔案，以文字檔為例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DD993D28-2F74-2239-225D-7D0B39151C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951" y="3335947"/>
            <a:ext cx="6343650" cy="1152525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9203D5E-7DB4-15A2-F644-08973B841815}"/>
              </a:ext>
            </a:extLst>
          </p:cNvPr>
          <p:cNvSpPr txBox="1"/>
          <p:nvPr/>
        </p:nvSpPr>
        <p:spPr>
          <a:xfrm>
            <a:off x="6624918" y="5235793"/>
            <a:ext cx="40222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echo “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檔案內容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檔案名稱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副檔名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D60149B3-1506-B58B-9509-70FC5E3CB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951" y="5683113"/>
            <a:ext cx="2181225" cy="1000125"/>
          </a:xfrm>
          <a:prstGeom prst="rect">
            <a:avLst/>
          </a:prstGeom>
        </p:spPr>
      </p:pic>
      <p:sp>
        <p:nvSpPr>
          <p:cNvPr id="16" name="文字方塊 15">
            <a:extLst>
              <a:ext uri="{FF2B5EF4-FFF2-40B4-BE49-F238E27FC236}">
                <a16:creationId xmlns:a16="http://schemas.microsoft.com/office/drawing/2014/main" id="{52E8803E-CA6A-3C68-DF29-3DAB694D734E}"/>
              </a:ext>
            </a:extLst>
          </p:cNvPr>
          <p:cNvSpPr txBox="1"/>
          <p:nvPr/>
        </p:nvSpPr>
        <p:spPr>
          <a:xfrm>
            <a:off x="6104263" y="6333508"/>
            <a:ext cx="47624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NewGitRepository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目錄中出現剛才所新增的檔案，及檔案內容。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1D25E543-FCB3-B171-FE95-92D47BBDC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882" y="5839410"/>
            <a:ext cx="1590675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881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32A17-5789-AF87-3411-16F935C2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1F09EC-0B75-DC61-1065-29FFC9AC1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5948643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E9EE9B5-33D8-A26B-C06C-8CFD368AF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57112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將新建立的檔案存入暫存區</a:t>
            </a:r>
            <a:r>
              <a:rPr lang="en-US" altLang="zh-TW" dirty="0">
                <a:solidFill>
                  <a:srgbClr val="00B0F0"/>
                </a:solidFill>
              </a:rPr>
              <a:t>(</a:t>
            </a:r>
            <a:r>
              <a:rPr lang="zh-TW" altLang="en-US" dirty="0">
                <a:solidFill>
                  <a:srgbClr val="00B0F0"/>
                </a:solidFill>
              </a:rPr>
              <a:t>進行追蹤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01D1101-ED7D-F893-BE10-D0A92CA11880}"/>
              </a:ext>
            </a:extLst>
          </p:cNvPr>
          <p:cNvSpPr txBox="1"/>
          <p:nvPr/>
        </p:nvSpPr>
        <p:spPr>
          <a:xfrm>
            <a:off x="1717954" y="2747130"/>
            <a:ext cx="4790422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740248F0-66D1-7D2B-E347-CF48A88AD79F}"/>
              </a:ext>
            </a:extLst>
          </p:cNvPr>
          <p:cNvSpPr txBox="1">
            <a:spLocks/>
          </p:cNvSpPr>
          <p:nvPr/>
        </p:nvSpPr>
        <p:spPr>
          <a:xfrm>
            <a:off x="1340359" y="2252412"/>
            <a:ext cx="3195782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新建檔案追蹤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FD7AEF-F4D9-B768-DA41-874E43B6A37F}"/>
              </a:ext>
            </a:extLst>
          </p:cNvPr>
          <p:cNvSpPr txBox="1"/>
          <p:nvPr/>
        </p:nvSpPr>
        <p:spPr>
          <a:xfrm>
            <a:off x="8177982" y="3887939"/>
            <a:ext cx="3191662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因為新增的檔案沒有進行追蹤，檔案名稱以紅色顏色提示要求使用者先進行追蹤後再做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動作。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E8C30B3-64E8-01EC-FF90-954AA7B64EC0}"/>
              </a:ext>
            </a:extLst>
          </p:cNvPr>
          <p:cNvSpPr txBox="1"/>
          <p:nvPr/>
        </p:nvSpPr>
        <p:spPr>
          <a:xfrm>
            <a:off x="2034848" y="5540447"/>
            <a:ext cx="2501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add test_file.txt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421A2BC-4D2C-3516-39A7-C7C1E1842AD3}"/>
              </a:ext>
            </a:extLst>
          </p:cNvPr>
          <p:cNvSpPr txBox="1"/>
          <p:nvPr/>
        </p:nvSpPr>
        <p:spPr>
          <a:xfrm>
            <a:off x="1717955" y="4895710"/>
            <a:ext cx="3642940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指令將新增的檔案，進行追蹤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D2BA613-F64B-364C-73B2-6F21F37C9D92}"/>
              </a:ext>
            </a:extLst>
          </p:cNvPr>
          <p:cNvSpPr txBox="1"/>
          <p:nvPr/>
        </p:nvSpPr>
        <p:spPr>
          <a:xfrm>
            <a:off x="6588722" y="6410338"/>
            <a:ext cx="5316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新增的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test_file.txt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檔案會出現打勾的圖示，表示完成檔案追蹤。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20852F7-A9AE-783D-E6C9-0A9A491F3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847" y="3174617"/>
            <a:ext cx="5948643" cy="1672618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3868275F-0BC5-85AA-E4E9-D2C406378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532" y="5760678"/>
            <a:ext cx="1990725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944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1532BE-DA99-EA06-A802-9CC78EE9A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78FFB9-BDD2-7F29-2319-85C9D92FA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5948643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88F3F50-6E26-8449-38BC-E577BA2B51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6329844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將</a:t>
            </a:r>
            <a:r>
              <a:rPr lang="en-US" altLang="zh-TW" dirty="0">
                <a:solidFill>
                  <a:srgbClr val="00B0F0"/>
                </a:solidFill>
              </a:rPr>
              <a:t>Git Repository</a:t>
            </a:r>
            <a:r>
              <a:rPr lang="zh-TW" altLang="en-US" dirty="0">
                <a:solidFill>
                  <a:srgbClr val="00B0F0"/>
                </a:solidFill>
              </a:rPr>
              <a:t>進行</a:t>
            </a:r>
            <a:r>
              <a:rPr lang="en-US" altLang="zh-TW" dirty="0">
                <a:solidFill>
                  <a:srgbClr val="00B0F0"/>
                </a:solidFill>
              </a:rPr>
              <a:t>Commit(</a:t>
            </a:r>
            <a:r>
              <a:rPr lang="zh-TW" altLang="en-US" dirty="0">
                <a:solidFill>
                  <a:srgbClr val="00B0F0"/>
                </a:solidFill>
              </a:rPr>
              <a:t>理解為存檔的概念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endParaRPr lang="zh-TW" altLang="en-US" dirty="0">
              <a:solidFill>
                <a:srgbClr val="00B0F0"/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5E97B2-CD73-11AA-0BB9-D101C8F884AC}"/>
              </a:ext>
            </a:extLst>
          </p:cNvPr>
          <p:cNvSpPr txBox="1"/>
          <p:nvPr/>
        </p:nvSpPr>
        <p:spPr>
          <a:xfrm>
            <a:off x="1717954" y="2747130"/>
            <a:ext cx="4790422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版控目錄的狀態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81A07E7F-7A42-8C4B-3678-3E84FE9E12CD}"/>
              </a:ext>
            </a:extLst>
          </p:cNvPr>
          <p:cNvSpPr txBox="1">
            <a:spLocks/>
          </p:cNvSpPr>
          <p:nvPr/>
        </p:nvSpPr>
        <p:spPr>
          <a:xfrm>
            <a:off x="1340358" y="2252412"/>
            <a:ext cx="4388089" cy="51467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將</a:t>
            </a:r>
            <a:r>
              <a:rPr lang="en-US" altLang="zh-TW" sz="1600" dirty="0">
                <a:solidFill>
                  <a:schemeClr val="bg1"/>
                </a:solidFill>
              </a:rPr>
              <a:t>NewGitRepository</a:t>
            </a:r>
            <a:r>
              <a:rPr lang="zh-TW" altLang="en-US" sz="1600" dirty="0">
                <a:solidFill>
                  <a:schemeClr val="bg1"/>
                </a:solidFill>
              </a:rPr>
              <a:t>中所有的內容進行</a:t>
            </a:r>
            <a:r>
              <a:rPr lang="en-US" altLang="zh-TW" sz="1600" dirty="0">
                <a:solidFill>
                  <a:schemeClr val="bg1"/>
                </a:solidFill>
              </a:rPr>
              <a:t>Commit</a:t>
            </a:r>
            <a:endParaRPr lang="zh-TW" altLang="en-US" sz="1600" dirty="0">
              <a:solidFill>
                <a:schemeClr val="bg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6D8E2B2-4357-182B-3E48-5EFA36330401}"/>
              </a:ext>
            </a:extLst>
          </p:cNvPr>
          <p:cNvSpPr txBox="1"/>
          <p:nvPr/>
        </p:nvSpPr>
        <p:spPr>
          <a:xfrm>
            <a:off x="8133157" y="3977661"/>
            <a:ext cx="3879548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已進行了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將檔案進行追蹤，檔案名稱變為綠色，但仍處於為存檔狀態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(No commits yet )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0A04761-C550-CC3B-D99A-6BFC4997AD2B}"/>
              </a:ext>
            </a:extLst>
          </p:cNvPr>
          <p:cNvSpPr txBox="1"/>
          <p:nvPr/>
        </p:nvSpPr>
        <p:spPr>
          <a:xfrm>
            <a:off x="2034847" y="5339830"/>
            <a:ext cx="34336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commit –m “First commit”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DFA0FE7-C8C0-3CCC-35FE-0CE4E6163444}"/>
              </a:ext>
            </a:extLst>
          </p:cNvPr>
          <p:cNvSpPr txBox="1"/>
          <p:nvPr/>
        </p:nvSpPr>
        <p:spPr>
          <a:xfrm>
            <a:off x="1717954" y="4895710"/>
            <a:ext cx="5166939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指令進行存檔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AECD62F-4AE0-07B6-7506-7F9F66B025B5}"/>
              </a:ext>
            </a:extLst>
          </p:cNvPr>
          <p:cNvSpPr txBox="1"/>
          <p:nvPr/>
        </p:nvSpPr>
        <p:spPr>
          <a:xfrm>
            <a:off x="8352383" y="5816270"/>
            <a:ext cx="3749875" cy="622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後面的參數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–m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是要加入每一次進行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的簡要說明，不能空白</a:t>
            </a:r>
            <a:endParaRPr lang="zh-TW" altLang="en-US" sz="12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0638820-D59F-260E-6E0A-489AD33A2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679" y="3254305"/>
            <a:ext cx="6004944" cy="1446712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5EE1E200-6CEB-0B66-1D47-CADB895B0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679" y="5706376"/>
            <a:ext cx="6329844" cy="842461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EB24B039-5556-4027-B66A-C11CDA465991}"/>
              </a:ext>
            </a:extLst>
          </p:cNvPr>
          <p:cNvSpPr txBox="1"/>
          <p:nvPr/>
        </p:nvSpPr>
        <p:spPr>
          <a:xfrm>
            <a:off x="5060382" y="5345040"/>
            <a:ext cx="5166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命令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(commit)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參數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(m)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“commit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的簡要說明文字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012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82A9D9-DE65-9FDC-801B-CA651E8E4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684C87-3C9D-2C2D-C3DA-7F3F6EBE6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ABCD9E3-A92D-0762-E454-0F3D56923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建立遠端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目錄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D4D5D6D-E793-1F25-F8BC-56CE808CD2D6}"/>
              </a:ext>
            </a:extLst>
          </p:cNvPr>
          <p:cNvSpPr txBox="1"/>
          <p:nvPr/>
        </p:nvSpPr>
        <p:spPr>
          <a:xfrm>
            <a:off x="1717954" y="3135980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首先在當前的路徑下新增一個要作為遠端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，可先使用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指令查看當前路徑，或是切換到想要建立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的路徑，並使用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en-US" altLang="zh-TW" sz="14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指令建立目錄，建立完成後切換到該目錄。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B0888157-CB95-8747-4DF1-E2F8661CE291}"/>
              </a:ext>
            </a:extLst>
          </p:cNvPr>
          <p:cNvSpPr txBox="1">
            <a:spLocks/>
          </p:cNvSpPr>
          <p:nvPr/>
        </p:nvSpPr>
        <p:spPr>
          <a:xfrm>
            <a:off x="1340359" y="2530295"/>
            <a:ext cx="3410935" cy="33941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建立</a:t>
            </a:r>
            <a:r>
              <a:rPr lang="en-US" altLang="zh-TW" sz="1600" dirty="0">
                <a:solidFill>
                  <a:schemeClr val="bg1"/>
                </a:solidFill>
              </a:rPr>
              <a:t>Remote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5AEE6C9-2AED-5D81-62B7-C39F1704B49C}"/>
              </a:ext>
            </a:extLst>
          </p:cNvPr>
          <p:cNvSpPr txBox="1"/>
          <p:nvPr/>
        </p:nvSpPr>
        <p:spPr>
          <a:xfrm>
            <a:off x="2034847" y="4277403"/>
            <a:ext cx="97627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mkdir RemoteGitRepository.git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遠端倉庫名稱可自行定義，這邊要注意的是遠端倉庫的建立，其檔案名稱後要加上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 RemoteGitRepository.git</a:t>
            </a:r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切換到建立好的遠端倉庫目錄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2A548C1-B211-8668-8F18-325331A5E238}"/>
              </a:ext>
            </a:extLst>
          </p:cNvPr>
          <p:cNvSpPr txBox="1"/>
          <p:nvPr/>
        </p:nvSpPr>
        <p:spPr>
          <a:xfrm>
            <a:off x="2034847" y="5897618"/>
            <a:ext cx="8830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Daniel.hsu@DESKTOP-2C8EEA2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/d/CAI_Project/RemoteGitRepository.git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init ––bare </a:t>
            </a:r>
            <a:r>
              <a:rPr lang="en-US" altLang="zh-TW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zh-TW" altLang="en-US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這裡要注意的是初始化與先前的</a:t>
            </a:r>
            <a:r>
              <a:rPr lang="en-US" altLang="zh-TW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倉庫不同，遠端</a:t>
            </a:r>
            <a:r>
              <a:rPr lang="en-US" altLang="zh-TW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倉庫的初始化要加上參數 </a:t>
            </a:r>
            <a:r>
              <a:rPr lang="en-US" altLang="zh-TW" sz="1200" dirty="0">
                <a:solidFill>
                  <a:schemeClr val="accent5">
                    <a:lumMod val="20000"/>
                    <a:lumOff val="8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--bare</a:t>
            </a:r>
            <a:endParaRPr lang="zh-TW" altLang="en-US" sz="1200" dirty="0">
              <a:solidFill>
                <a:schemeClr val="accent5">
                  <a:lumMod val="20000"/>
                  <a:lumOff val="8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D41F87C0-611A-9FD1-A8DD-B7421494E4DE}"/>
              </a:ext>
            </a:extLst>
          </p:cNvPr>
          <p:cNvSpPr txBox="1">
            <a:spLocks/>
          </p:cNvSpPr>
          <p:nvPr/>
        </p:nvSpPr>
        <p:spPr>
          <a:xfrm>
            <a:off x="1340358" y="5259679"/>
            <a:ext cx="3796417" cy="461665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初始化</a:t>
            </a:r>
            <a:r>
              <a:rPr lang="en-US" altLang="zh-TW" sz="1600" dirty="0">
                <a:solidFill>
                  <a:schemeClr val="bg1"/>
                </a:solidFill>
              </a:rPr>
              <a:t>Remote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 </a:t>
            </a:r>
            <a:r>
              <a:rPr lang="en-US" altLang="zh-TW" sz="1600" dirty="0">
                <a:solidFill>
                  <a:schemeClr val="bg1"/>
                </a:solidFill>
              </a:rPr>
              <a:t>Repository</a:t>
            </a:r>
            <a:r>
              <a:rPr lang="zh-TW" altLang="en-US" sz="1600" dirty="0">
                <a:solidFill>
                  <a:schemeClr val="bg1"/>
                </a:solidFill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33267597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B869BC-F225-87F2-3E43-C751BD8B2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620685-3CEE-B4CB-5C01-71434B099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37BA50-EF39-2055-1154-EE4A286B7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339679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建立遠端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目錄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1BC4B93-41CA-C332-1FFD-F3D330791DEF}"/>
              </a:ext>
            </a:extLst>
          </p:cNvPr>
          <p:cNvSpPr txBox="1"/>
          <p:nvPr/>
        </p:nvSpPr>
        <p:spPr>
          <a:xfrm>
            <a:off x="1717954" y="2863344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將目錄路徑切換到本地端的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Repository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，依照下列指令設定在這個目錄下的資料要推送到遠端的節點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(URL)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，以上述所建立的遠端倉庫為例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48591BF2-A41E-8B54-FABA-AF4712BFC073}"/>
              </a:ext>
            </a:extLst>
          </p:cNvPr>
          <p:cNvSpPr txBox="1">
            <a:spLocks/>
          </p:cNvSpPr>
          <p:nvPr/>
        </p:nvSpPr>
        <p:spPr>
          <a:xfrm>
            <a:off x="1340358" y="2427667"/>
            <a:ext cx="3966747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設定</a:t>
            </a:r>
            <a:r>
              <a:rPr lang="en-US" altLang="zh-TW" sz="1600" dirty="0">
                <a:solidFill>
                  <a:schemeClr val="bg1"/>
                </a:solidFill>
              </a:rPr>
              <a:t>Remote Git Repository</a:t>
            </a:r>
            <a:r>
              <a:rPr lang="zh-TW" altLang="en-US" sz="1600" dirty="0">
                <a:solidFill>
                  <a:schemeClr val="bg1"/>
                </a:solidFill>
              </a:rPr>
              <a:t>遠端節點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F3E1B16-D632-8406-5F52-FD2E06F7C63F}"/>
              </a:ext>
            </a:extLst>
          </p:cNvPr>
          <p:cNvSpPr txBox="1"/>
          <p:nvPr/>
        </p:nvSpPr>
        <p:spPr>
          <a:xfrm>
            <a:off x="2034847" y="3910521"/>
            <a:ext cx="66698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remote add origin d:/Daniel_SIDE_PROJECT/TestDoc/RemoteGit.git 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2E92DE7C-2642-7584-AC47-BA33A34DD7E0}"/>
              </a:ext>
            </a:extLst>
          </p:cNvPr>
          <p:cNvSpPr txBox="1">
            <a:spLocks/>
          </p:cNvSpPr>
          <p:nvPr/>
        </p:nvSpPr>
        <p:spPr>
          <a:xfrm>
            <a:off x="1340359" y="4524740"/>
            <a:ext cx="3410935" cy="33941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確認遠端節點</a:t>
            </a:r>
            <a:r>
              <a:rPr lang="en-US" altLang="zh-TW" sz="1600" dirty="0">
                <a:solidFill>
                  <a:schemeClr val="bg1"/>
                </a:solidFill>
              </a:rPr>
              <a:t>(URL)</a:t>
            </a:r>
            <a:r>
              <a:rPr lang="zh-TW" altLang="en-US" sz="1600" dirty="0">
                <a:solidFill>
                  <a:schemeClr val="bg1"/>
                </a:solidFill>
              </a:rPr>
              <a:t>設定狀態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775DD89-B1BE-5C84-CA4C-68F9908F9E0B}"/>
              </a:ext>
            </a:extLst>
          </p:cNvPr>
          <p:cNvSpPr txBox="1"/>
          <p:nvPr/>
        </p:nvSpPr>
        <p:spPr>
          <a:xfrm>
            <a:off x="2034847" y="3655591"/>
            <a:ext cx="55672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遠端倉庫路徑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d:/Daniel_SIDE_PROJECT/TestDoc/RemoteGit.git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B3A339E-327F-8420-174D-26DFB1710A0A}"/>
              </a:ext>
            </a:extLst>
          </p:cNvPr>
          <p:cNvSpPr txBox="1"/>
          <p:nvPr/>
        </p:nvSpPr>
        <p:spPr>
          <a:xfrm>
            <a:off x="1717954" y="4864159"/>
            <a:ext cx="4873346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完成上述的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推送節點設定後，下達以下指令確認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C4A3CA1-8E68-3F2E-0DDA-B538278B2D93}"/>
              </a:ext>
            </a:extLst>
          </p:cNvPr>
          <p:cNvSpPr txBox="1"/>
          <p:nvPr/>
        </p:nvSpPr>
        <p:spPr>
          <a:xfrm>
            <a:off x="2034847" y="5313053"/>
            <a:ext cx="66698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tengc@MSI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/d/Daniel_SIDE_PROJECT/TestDoc/LocalGit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remote –v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origin d:/Daniel_SIDE_PROJECT/TestDoc/RemoteGit.git (fetch)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origin d:/Daniel_SIDE_PROJECT/TestDoc/RemoteGit.git (push)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E06D2F73-6DEE-CD1B-1E77-99ECAC62B295}"/>
              </a:ext>
            </a:extLst>
          </p:cNvPr>
          <p:cNvSpPr txBox="1"/>
          <p:nvPr/>
        </p:nvSpPr>
        <p:spPr>
          <a:xfrm>
            <a:off x="1717953" y="6277997"/>
            <a:ext cx="7711797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如成功完成推送遠端節點的設定，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“remote –v”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指令後會出現要推送的遠端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倉庫路徑。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E3DDA04-7AD5-FD81-938B-FAAEFFF2E2ED}"/>
              </a:ext>
            </a:extLst>
          </p:cNvPr>
          <p:cNvSpPr txBox="1"/>
          <p:nvPr/>
        </p:nvSpPr>
        <p:spPr>
          <a:xfrm>
            <a:off x="2865438" y="4166745"/>
            <a:ext cx="5166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命令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(remote)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參數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(add origin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遠端節點的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URL)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3550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00B80B-C921-039F-AE17-4542E1A5D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4642623-80B8-E94B-9BB4-8DF293978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FA31FD-F1CF-0FE2-703D-E08A1C8B1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4913421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Clone(</a:t>
            </a:r>
            <a:r>
              <a:rPr lang="zh-TW" altLang="en-US" dirty="0">
                <a:solidFill>
                  <a:srgbClr val="00B0F0"/>
                </a:solidFill>
              </a:rPr>
              <a:t>克隆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r>
              <a:rPr lang="zh-TW" altLang="en-US" dirty="0">
                <a:solidFill>
                  <a:srgbClr val="00B0F0"/>
                </a:solidFill>
              </a:rPr>
              <a:t>遠端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目錄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F971187-F91B-57A9-D832-4BD436A4AF23}"/>
              </a:ext>
            </a:extLst>
          </p:cNvPr>
          <p:cNvSpPr txBox="1"/>
          <p:nvPr/>
        </p:nvSpPr>
        <p:spPr>
          <a:xfrm>
            <a:off x="1717954" y="2863344"/>
            <a:ext cx="9281740" cy="711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將目錄路徑切換到本地端任何一個想要存放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資料的目錄，使用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“clone”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指令將遠端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倉庫整個克隆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複製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到這個資料夾目錄中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(clone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的資料包含所有的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數據，修改文件與修改記錄等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3E4E6351-AF2F-3258-B6B7-DD66AE5F33F3}"/>
              </a:ext>
            </a:extLst>
          </p:cNvPr>
          <p:cNvSpPr txBox="1">
            <a:spLocks/>
          </p:cNvSpPr>
          <p:nvPr/>
        </p:nvSpPr>
        <p:spPr>
          <a:xfrm>
            <a:off x="1340358" y="2427667"/>
            <a:ext cx="3912960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切換到本地端的任何一個資料夾目錄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02516ED-66B6-B264-2523-0129E2180980}"/>
              </a:ext>
            </a:extLst>
          </p:cNvPr>
          <p:cNvSpPr txBox="1"/>
          <p:nvPr/>
        </p:nvSpPr>
        <p:spPr>
          <a:xfrm>
            <a:off x="2651883" y="5961479"/>
            <a:ext cx="74138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完成後會出現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“cloning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into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‘RemoteGit’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字樣，同時在資料夾中會出現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下來的所有數據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與遠端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repositor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相同的資料內容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A8DDC12-9A75-AB04-9570-3EA587CC7131}"/>
              </a:ext>
            </a:extLst>
          </p:cNvPr>
          <p:cNvSpPr txBox="1"/>
          <p:nvPr/>
        </p:nvSpPr>
        <p:spPr>
          <a:xfrm>
            <a:off x="1918377" y="3877170"/>
            <a:ext cx="58540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tengc@MSI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/d/Daniel_SIDE_PROJECT/clone_test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clone d:/Daniel_SIDE_PROJECT/TestDoc/RemoteGit.git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67E96BE7-C838-22D6-A2E7-A3E3DBCB7C55}"/>
              </a:ext>
            </a:extLst>
          </p:cNvPr>
          <p:cNvSpPr txBox="1"/>
          <p:nvPr/>
        </p:nvSpPr>
        <p:spPr>
          <a:xfrm>
            <a:off x="7353667" y="3987061"/>
            <a:ext cx="40030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語法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命令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(clone) 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參數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zh-TW" alt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遠端節點的</a:t>
            </a:r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URL)</a:t>
            </a:r>
            <a:endParaRPr lang="en-US" altLang="zh-TW" sz="1200" dirty="0">
              <a:solidFill>
                <a:srgbClr val="33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492FC85C-2A0A-EBA7-92F9-B547E58A3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2166" y="4815220"/>
            <a:ext cx="4873346" cy="669875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17A26E90-04F3-1D47-34C8-8BA38B4F8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1926" y="4786171"/>
            <a:ext cx="3012296" cy="727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174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46F350-29EB-5802-A831-30FEAB3E8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5814E1-0D07-DF36-BF95-E4D00FA9A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2718"/>
            <a:ext cx="10890929" cy="662474"/>
          </a:xfrm>
        </p:spPr>
        <p:txBody>
          <a:bodyPr anchor="ctr" anchorCtr="0">
            <a:normAutofit/>
          </a:bodyPr>
          <a:lstStyle/>
          <a:p>
            <a:r>
              <a:rPr lang="en-US" altLang="zh-TW" sz="3200" dirty="0">
                <a:solidFill>
                  <a:srgbClr val="FFC000"/>
                </a:solidFill>
              </a:rPr>
              <a:t>Git Bash – Command Line</a:t>
            </a:r>
            <a:endParaRPr lang="zh-TW" altLang="en-US" sz="3200" dirty="0">
              <a:solidFill>
                <a:srgbClr val="FFC00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D0A11D7-C4A5-9A8A-FFD3-492AD12104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097" y="1765192"/>
            <a:ext cx="5496127" cy="547027"/>
          </a:xfrm>
        </p:spPr>
        <p:txBody>
          <a:bodyPr anchor="ctr" anchorCtr="0">
            <a:no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Push(</a:t>
            </a:r>
            <a:r>
              <a:rPr lang="zh-TW" altLang="en-US" dirty="0">
                <a:solidFill>
                  <a:srgbClr val="00B0F0"/>
                </a:solidFill>
              </a:rPr>
              <a:t>推送</a:t>
            </a:r>
            <a:r>
              <a:rPr lang="en-US" altLang="zh-TW" dirty="0">
                <a:solidFill>
                  <a:srgbClr val="00B0F0"/>
                </a:solidFill>
              </a:rPr>
              <a:t>)</a:t>
            </a:r>
            <a:r>
              <a:rPr lang="zh-TW" altLang="en-US" dirty="0">
                <a:solidFill>
                  <a:srgbClr val="00B0F0"/>
                </a:solidFill>
              </a:rPr>
              <a:t>數據到遠端</a:t>
            </a:r>
            <a:r>
              <a:rPr lang="en-US" altLang="zh-TW" dirty="0">
                <a:solidFill>
                  <a:srgbClr val="00B0F0"/>
                </a:solidFill>
              </a:rPr>
              <a:t>Git</a:t>
            </a:r>
            <a:r>
              <a:rPr lang="zh-TW" altLang="en-US" dirty="0">
                <a:solidFill>
                  <a:srgbClr val="00B0F0"/>
                </a:solidFill>
              </a:rPr>
              <a:t> </a:t>
            </a:r>
            <a:r>
              <a:rPr lang="en-US" altLang="zh-TW" dirty="0">
                <a:solidFill>
                  <a:srgbClr val="00B0F0"/>
                </a:solidFill>
              </a:rPr>
              <a:t>Repository</a:t>
            </a:r>
            <a:r>
              <a:rPr lang="zh-TW" altLang="en-US" dirty="0">
                <a:solidFill>
                  <a:srgbClr val="00B0F0"/>
                </a:solidFill>
              </a:rPr>
              <a:t>目錄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C87BD18-FA3B-985B-54C0-EF9B35A851F1}"/>
              </a:ext>
            </a:extLst>
          </p:cNvPr>
          <p:cNvSpPr txBox="1"/>
          <p:nvPr/>
        </p:nvSpPr>
        <p:spPr>
          <a:xfrm>
            <a:off x="1717954" y="2625876"/>
            <a:ext cx="9918234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將剛才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下來的資料版本內容進行修改，修改完後使用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與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指令更新本地端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數據庫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F7DC9E2C-C41E-0635-73ED-0EDD9A15459F}"/>
              </a:ext>
            </a:extLst>
          </p:cNvPr>
          <p:cNvSpPr txBox="1">
            <a:spLocks/>
          </p:cNvSpPr>
          <p:nvPr/>
        </p:nvSpPr>
        <p:spPr>
          <a:xfrm>
            <a:off x="1340358" y="2289256"/>
            <a:ext cx="3168889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修改</a:t>
            </a:r>
            <a:r>
              <a:rPr lang="en-US" altLang="zh-TW" sz="1600" dirty="0">
                <a:solidFill>
                  <a:schemeClr val="bg1"/>
                </a:solidFill>
              </a:rPr>
              <a:t>clone</a:t>
            </a:r>
            <a:r>
              <a:rPr lang="zh-TW" altLang="en-US" sz="1600" dirty="0">
                <a:solidFill>
                  <a:schemeClr val="bg1"/>
                </a:solidFill>
              </a:rPr>
              <a:t>下來的文件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E68ED56-69C6-7C26-5D80-9EF4CD91C474}"/>
              </a:ext>
            </a:extLst>
          </p:cNvPr>
          <p:cNvSpPr txBox="1"/>
          <p:nvPr/>
        </p:nvSpPr>
        <p:spPr>
          <a:xfrm>
            <a:off x="4583572" y="3085829"/>
            <a:ext cx="23730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參考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page 8 and page 9</a:t>
            </a: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3513B655-33FF-DB38-FCF3-07F80694BC5C}"/>
              </a:ext>
            </a:extLst>
          </p:cNvPr>
          <p:cNvSpPr txBox="1">
            <a:spLocks/>
          </p:cNvSpPr>
          <p:nvPr/>
        </p:nvSpPr>
        <p:spPr>
          <a:xfrm>
            <a:off x="1340358" y="3370964"/>
            <a:ext cx="3168889" cy="44204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3776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51560" indent="-28575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8448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zh-TW" altLang="en-US" sz="1600" dirty="0">
                <a:solidFill>
                  <a:schemeClr val="bg1"/>
                </a:solidFill>
              </a:rPr>
              <a:t>推送</a:t>
            </a:r>
            <a:r>
              <a:rPr lang="en-US" altLang="zh-TW" sz="1600" dirty="0">
                <a:solidFill>
                  <a:schemeClr val="bg1"/>
                </a:solidFill>
              </a:rPr>
              <a:t>Git</a:t>
            </a:r>
            <a:r>
              <a:rPr lang="zh-TW" altLang="en-US" sz="1600" dirty="0">
                <a:solidFill>
                  <a:schemeClr val="bg1"/>
                </a:solidFill>
              </a:rPr>
              <a:t>到遠端數據庫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B0F3A7E-0B7F-98BA-BFF8-B19C7BF3790C}"/>
              </a:ext>
            </a:extLst>
          </p:cNvPr>
          <p:cNvSpPr txBox="1"/>
          <p:nvPr/>
        </p:nvSpPr>
        <p:spPr>
          <a:xfrm>
            <a:off x="1981129" y="4312943"/>
            <a:ext cx="66160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tengc@MSI </a:t>
            </a:r>
            <a:r>
              <a:rPr lang="en-US" altLang="zh-TW" sz="1200" dirty="0">
                <a:solidFill>
                  <a:srgbClr val="FF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MINGW64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TW" sz="1200" dirty="0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/d/Daniel_SIDE_PROJECT/clone_test/RemoteGit </a:t>
            </a:r>
            <a:r>
              <a:rPr lang="en-US" altLang="zh-TW" sz="1200" dirty="0">
                <a:solidFill>
                  <a:srgbClr val="33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(master)</a:t>
            </a:r>
          </a:p>
          <a:p>
            <a:r>
              <a:rPr lang="en-US" altLang="zh-TW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altLang="zh-TW" sz="1200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git push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A1D02AB-9E96-9746-1104-B5D5193788C2}"/>
              </a:ext>
            </a:extLst>
          </p:cNvPr>
          <p:cNvSpPr txBox="1"/>
          <p:nvPr/>
        </p:nvSpPr>
        <p:spPr>
          <a:xfrm>
            <a:off x="1717954" y="3869014"/>
            <a:ext cx="3920846" cy="387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使用</a:t>
            </a:r>
            <a:r>
              <a:rPr lang="en-US" altLang="zh-TW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“push”</a:t>
            </a:r>
            <a:r>
              <a:rPr lang="zh-TW" alt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指令進行版本推送</a:t>
            </a:r>
            <a:endParaRPr lang="zh-TW" altLang="en-US" sz="1400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91F0B3AB-45D9-9572-EF87-AF62FBE46B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2863" y="4760609"/>
            <a:ext cx="4774455" cy="1259643"/>
          </a:xfrm>
          <a:prstGeom prst="rect">
            <a:avLst/>
          </a:prstGeom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5583B6C8-FF61-114A-D752-2AF432419AC3}"/>
              </a:ext>
            </a:extLst>
          </p:cNvPr>
          <p:cNvSpPr txBox="1"/>
          <p:nvPr/>
        </p:nvSpPr>
        <p:spPr>
          <a:xfrm>
            <a:off x="1416423" y="6237085"/>
            <a:ext cx="89312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顯示推送版本到遠端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數據庫的信息以及要推送本地端某個分支到遠端的分支節點，以左圖例，即是將本地端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分支節點推送到遠端的</a:t>
            </a: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master</a:t>
            </a:r>
            <a:r>
              <a:rPr lang="zh-TW" altLang="en-US" sz="1200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分支節點</a:t>
            </a:r>
            <a:endParaRPr lang="en-US" altLang="zh-TW" sz="1200" dirty="0">
              <a:solidFill>
                <a:schemeClr val="bg1">
                  <a:lumMod val="6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5482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95165D-BBFE-B968-8812-5920135BB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Git Test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3B52210-FB3E-3961-061E-A7E9C7B3D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For commit, merge, pull and </a:t>
            </a:r>
            <a:r>
              <a:rPr lang="en-US" altLang="zh-TW"/>
              <a:t>push test.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5019278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視圖</Template>
  <TotalTime>575</TotalTime>
  <Words>1488</Words>
  <Application>Microsoft Office PowerPoint</Application>
  <PresentationFormat>寬螢幕</PresentationFormat>
  <Paragraphs>116</Paragraphs>
  <Slides>14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9" baseType="lpstr">
      <vt:lpstr>Arial</vt:lpstr>
      <vt:lpstr>Courier New</vt:lpstr>
      <vt:lpstr>Grandview Display</vt:lpstr>
      <vt:lpstr>Wingdings</vt:lpstr>
      <vt:lpstr>DashVTI</vt:lpstr>
      <vt:lpstr>Git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Bash – Command Line</vt:lpstr>
      <vt:lpstr>Git Test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Conserve_Lic3</dc:creator>
  <cp:lastModifiedBy>登傑 許</cp:lastModifiedBy>
  <cp:revision>12</cp:revision>
  <dcterms:created xsi:type="dcterms:W3CDTF">2025-11-13T07:35:53Z</dcterms:created>
  <dcterms:modified xsi:type="dcterms:W3CDTF">2025-11-16T07:13:12Z</dcterms:modified>
</cp:coreProperties>
</file>